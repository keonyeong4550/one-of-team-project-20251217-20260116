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80" r:id="rId4"/>
    <p:sldId id="262" r:id="rId5"/>
    <p:sldId id="281" r:id="rId6"/>
    <p:sldId id="282" r:id="rId7"/>
    <p:sldId id="283" r:id="rId8"/>
    <p:sldId id="284" r:id="rId9"/>
    <p:sldId id="285" r:id="rId10"/>
    <p:sldId id="286" r:id="rId11"/>
    <p:sldId id="288" r:id="rId12"/>
    <p:sldId id="287" r:id="rId13"/>
    <p:sldId id="289" r:id="rId14"/>
    <p:sldId id="290" r:id="rId15"/>
    <p:sldId id="292" r:id="rId16"/>
  </p:sldIdLst>
  <p:sldSz cx="9906000" cy="6858000" type="A4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597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orient="horz" pos="4065">
          <p15:clr>
            <a:srgbClr val="A4A3A4"/>
          </p15:clr>
        </p15:guide>
        <p15:guide id="4" orient="horz" pos="709">
          <p15:clr>
            <a:srgbClr val="A4A3A4"/>
          </p15:clr>
        </p15:guide>
        <p15:guide id="5" pos="3139">
          <p15:clr>
            <a:srgbClr val="A4A3A4"/>
          </p15:clr>
        </p15:guide>
        <p15:guide id="6" pos="172">
          <p15:clr>
            <a:srgbClr val="A4A3A4"/>
          </p15:clr>
        </p15:guide>
        <p15:guide id="7" pos="6096">
          <p15:clr>
            <a:srgbClr val="A4A3A4"/>
          </p15:clr>
        </p15:guide>
        <p15:guide id="8" pos="5947">
          <p15:clr>
            <a:srgbClr val="A4A3A4"/>
          </p15:clr>
        </p15:guide>
        <p15:guide id="9" pos="81">
          <p15:clr>
            <a:srgbClr val="A4A3A4"/>
          </p15:clr>
        </p15:guide>
        <p15:guide id="10" pos="61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jXRDGNzYP1XVXSSdwk35M0ksZJ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7E9"/>
    <a:srgbClr val="65BDFF"/>
    <a:srgbClr val="33CCFF"/>
    <a:srgbClr val="66FFFF"/>
    <a:srgbClr val="FFFFCC"/>
    <a:srgbClr val="8496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5D2FAC-C08E-420A-8C3A-5AC99DA5B0F8}">
  <a:tblStyle styleId="{715D2FAC-C08E-420A-8C3A-5AC99DA5B0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47938-0C90-476C-889C-8B1953660A00}" styleName="Table_1">
    <a:wholeTbl>
      <a:tcTxStyle b="off" i="off">
        <a:font>
          <a:latin typeface="HY견고딕"/>
          <a:ea typeface="HY견고딕"/>
          <a:cs typeface="HY견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7F18FA-3FCD-4E5F-8F85-416C34552037}" styleName="Table_2">
    <a:wholeTbl>
      <a:tcTxStyle b="off" i="off">
        <a:font>
          <a:latin typeface="HY견고딕"/>
          <a:ea typeface="HY견고딕"/>
          <a:cs typeface="HY견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tcBdr/>
        <a:fill>
          <a:solidFill>
            <a:srgbClr val="CAECD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CD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Y견고딕"/>
          <a:ea typeface="HY견고딕"/>
          <a:cs typeface="HY견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HY견고딕"/>
          <a:ea typeface="HY견고딕"/>
          <a:cs typeface="HY견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HY견고딕"/>
          <a:ea typeface="HY견고딕"/>
          <a:cs typeface="HY견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Y견고딕"/>
          <a:ea typeface="HY견고딕"/>
          <a:cs typeface="HY견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4" autoAdjust="0"/>
    <p:restoredTop sz="94660"/>
  </p:normalViewPr>
  <p:slideViewPr>
    <p:cSldViewPr snapToGrid="0">
      <p:cViewPr varScale="1">
        <p:scale>
          <a:sx n="63" d="100"/>
          <a:sy n="63" d="100"/>
        </p:scale>
        <p:origin x="576" y="78"/>
      </p:cViewPr>
      <p:guideLst>
        <p:guide orient="horz" pos="3597"/>
        <p:guide orient="horz" pos="391"/>
        <p:guide orient="horz" pos="4065"/>
        <p:guide orient="horz" pos="709"/>
        <p:guide pos="3139"/>
        <p:guide pos="172"/>
        <p:guide pos="6096"/>
        <p:guide pos="5947"/>
        <p:guide pos="81"/>
        <p:guide pos="61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1" y="0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1" y="9721106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b" anchorCtr="0">
            <a:noAutofit/>
          </a:bodyPr>
          <a:lstStyle/>
          <a:p>
            <a:pPr algn="r"/>
            <a:fld id="{00000000-1234-1234-1234-123412341234}" type="slidenum">
              <a:rPr lang="en-US" altLang="ko-KR" sz="13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8" name="Google Shape;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8243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2D4CECE4-A24B-82FC-EDB5-9B5D9EF61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40A56695-5F68-B370-E02F-1BB05123DD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98175050-B40A-DA99-203A-FD986CABD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4937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0ADB8BA-FEC0-328A-F4E8-0B33FB02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0F569482-FE33-0D1A-5518-3A778AAE3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B55E0EF0-CE8C-29E8-FC40-6891E3508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7570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2E9B7232-991D-AC9E-4D9E-BBBEDADA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99DFE198-A331-1EBC-C23B-33A19853DA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BF4C1494-F5AC-A1C2-16C1-E61B4FD24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0336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49E30D17-7E3E-735E-0876-59131122E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AFA0837D-49F8-76B2-D8ED-2693EB4A1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E8FBEBA5-3B87-8157-7ED8-512DD2C9E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090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8E1AC0B-4337-A241-F529-2CB09118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40FFC912-1A82-12EA-CE3E-24E9ED88C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98D76C17-FD7C-4370-BA85-C43F4B7AD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8053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66B5FE4-E97D-0F19-54FB-40A82355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CA53C613-57A9-A3FD-E529-695B62E7B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DFCC9301-1285-2B17-ECE5-7685B7C36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0510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2AAC414-74A0-E8E8-03C3-73FC9FD8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75A2BB28-6D89-A7C3-3727-CE4920EEC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44EEC0C0-5293-B57B-E9BD-A7F02AA27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2503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663B15C7-A4BA-388B-0389-4817275F9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AE15F163-2227-09AF-DCCE-252A90430D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F423A9FD-3943-5DD9-833A-242E32F8E5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5124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7E8B7690-172E-5CFE-2BD9-BA2E49A3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F3C0EFEF-B391-8601-5D4C-7811A3A64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DC36F76C-91F2-9C6C-4051-DE373C9C65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9571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91F1AD2-687B-7CF6-65F8-F49213A5C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DCFFF9DB-CAB1-6CD3-4CE1-89AA4B45B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5D3C3D70-1FFB-51A9-A542-2179D3438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9613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61AA1485-6DE7-DF4D-2317-62A02654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>
            <a:extLst>
              <a:ext uri="{FF2B5EF4-FFF2-40B4-BE49-F238E27FC236}">
                <a16:creationId xmlns:a16="http://schemas.microsoft.com/office/drawing/2014/main" id="{887F981A-AAA2-C5A8-99D9-57FF96694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78" name="Google Shape;78;p7:notes">
            <a:extLst>
              <a:ext uri="{FF2B5EF4-FFF2-40B4-BE49-F238E27FC236}">
                <a16:creationId xmlns:a16="http://schemas.microsoft.com/office/drawing/2014/main" id="{96835934-100D-09E6-F391-A3AF3B866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0209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4"/>
          <p:cNvSpPr/>
          <p:nvPr/>
        </p:nvSpPr>
        <p:spPr>
          <a:xfrm>
            <a:off x="0" y="3226758"/>
            <a:ext cx="25519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400" b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64"/>
          <p:cNvSpPr txBox="1"/>
          <p:nvPr/>
        </p:nvSpPr>
        <p:spPr>
          <a:xfrm>
            <a:off x="3647090" y="903890"/>
            <a:ext cx="598643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응대 업무 고도화를 위한 웹 챗봇 개발 프로젝트</a:t>
            </a:r>
          </a:p>
        </p:txBody>
      </p:sp>
      <p:graphicFrame>
        <p:nvGraphicFramePr>
          <p:cNvPr id="21" name="Google Shape;21;p64"/>
          <p:cNvGraphicFramePr/>
          <p:nvPr>
            <p:extLst>
              <p:ext uri="{D42A27DB-BD31-4B8C-83A1-F6EECF244321}">
                <p14:modId xmlns:p14="http://schemas.microsoft.com/office/powerpoint/2010/main" val="1752090350"/>
              </p:ext>
            </p:extLst>
          </p:nvPr>
        </p:nvGraphicFramePr>
        <p:xfrm>
          <a:off x="254002" y="1350060"/>
          <a:ext cx="9307500" cy="756350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930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6350">
                <a:tc>
                  <a:txBody>
                    <a:bodyPr/>
                    <a:lstStyle/>
                    <a:p>
                      <a:pPr marL="0" marR="0" lvl="0" indent="49213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Malgun Gothic"/>
                        <a:buNone/>
                      </a:pPr>
                      <a:r>
                        <a:rPr lang="ko-KR" altLang="en-US" sz="24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설계서</a:t>
                      </a:r>
                      <a:endParaRPr sz="24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3"/>
          <p:cNvSpPr txBox="1"/>
          <p:nvPr/>
        </p:nvSpPr>
        <p:spPr>
          <a:xfrm>
            <a:off x="4735671" y="6597356"/>
            <a:ext cx="4523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fld id="{00000000-1234-1234-1234-123412341234}" type="slidenum"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endParaRPr/>
          </a:p>
        </p:txBody>
      </p:sp>
      <p:sp>
        <p:nvSpPr>
          <p:cNvPr id="11" name="Google Shape;11;p63"/>
          <p:cNvSpPr txBox="1"/>
          <p:nvPr/>
        </p:nvSpPr>
        <p:spPr>
          <a:xfrm>
            <a:off x="6611006" y="168177"/>
            <a:ext cx="3170625" cy="164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 응대 업무 고도화를 위한 웹 챗봇 개발 프로젝트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2;p63"/>
          <p:cNvSpPr txBox="1"/>
          <p:nvPr/>
        </p:nvSpPr>
        <p:spPr>
          <a:xfrm>
            <a:off x="190758" y="6597352"/>
            <a:ext cx="4330195" cy="20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설계서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" name="Google Shape;13;p63"/>
          <p:cNvCxnSpPr/>
          <p:nvPr/>
        </p:nvCxnSpPr>
        <p:spPr>
          <a:xfrm>
            <a:off x="0" y="6525344"/>
            <a:ext cx="990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63"/>
          <p:cNvCxnSpPr/>
          <p:nvPr/>
        </p:nvCxnSpPr>
        <p:spPr>
          <a:xfrm>
            <a:off x="0" y="384768"/>
            <a:ext cx="9906000" cy="0"/>
          </a:xfrm>
          <a:prstGeom prst="straightConnector1">
            <a:avLst/>
          </a:prstGeom>
          <a:solidFill>
            <a:schemeClr val="accent1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3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3.png"/><Relationship Id="rId9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3.png"/><Relationship Id="rId9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3.png"/><Relationship Id="rId9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3.png"/><Relationship Id="rId9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6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3.png"/><Relationship Id="rId4" Type="http://schemas.openxmlformats.org/officeDocument/2006/relationships/image" Target="../media/image7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80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8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Google Shape;44;p1"/>
          <p:cNvGraphicFramePr/>
          <p:nvPr>
            <p:extLst>
              <p:ext uri="{D42A27DB-BD31-4B8C-83A1-F6EECF244321}">
                <p14:modId xmlns:p14="http://schemas.microsoft.com/office/powerpoint/2010/main" val="669431637"/>
              </p:ext>
            </p:extLst>
          </p:nvPr>
        </p:nvGraphicFramePr>
        <p:xfrm>
          <a:off x="4888137" y="4620081"/>
          <a:ext cx="4574675" cy="1449704"/>
        </p:xfrm>
        <a:graphic>
          <a:graphicData uri="http://schemas.openxmlformats.org/drawingml/2006/table">
            <a:tbl>
              <a:tblPr bandRow="1">
                <a:noFill/>
                <a:tableStyleId>{38947938-0C90-476C-889C-8B1953660A00}</a:tableStyleId>
              </a:tblPr>
              <a:tblGrid>
                <a:gridCol w="124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4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i="0" u="none" strike="noStrike" cap="none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Arial"/>
                          <a:sym typeface="Arial"/>
                        </a:rPr>
                        <a:t>문서명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HY견고딕"/>
                        <a:ea typeface="HY견고딕"/>
                        <a:cs typeface="Arial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CHATBOT-CS-UI-2025-002-</a:t>
                      </a:r>
                      <a:r>
                        <a:rPr lang="ko-KR" altLang="en-US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화면설계서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i="0" u="none" strike="noStrike" cap="none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Arial"/>
                          <a:sym typeface="Arial"/>
                        </a:rPr>
                        <a:t>개정번호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HY견고딕"/>
                        <a:ea typeface="HY견고딕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v1.0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4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i="0" u="none" strike="noStrike" cap="none">
                          <a:solidFill>
                            <a:schemeClr val="dk1"/>
                          </a:solidFill>
                          <a:latin typeface="HY견고딕"/>
                          <a:ea typeface="HY견고딕"/>
                          <a:cs typeface="Arial"/>
                          <a:sym typeface="Arial"/>
                        </a:rPr>
                        <a:t>개정일자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HY견고딕"/>
                        <a:ea typeface="HY견고딕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2025-12-18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4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/>
                        <a:t>작성자</a:t>
                      </a:r>
                      <a:endParaRPr/>
                    </a:p>
                  </a:txBody>
                  <a:tcPr marL="126275" marR="126275" marT="55200" marB="552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박건영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6275" marR="126275" marT="55200" marB="5520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611631"/>
                  </a:ext>
                </a:extLst>
              </a:tr>
            </a:tbl>
          </a:graphicData>
        </a:graphic>
      </p:graphicFrame>
      <p:sp>
        <p:nvSpPr>
          <p:cNvPr id="45" name="Google Shape;45;p1"/>
          <p:cNvSpPr txBox="1"/>
          <p:nvPr/>
        </p:nvSpPr>
        <p:spPr>
          <a:xfrm>
            <a:off x="4495800" y="29718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Google Shape;50;p2"/>
          <p:cNvGraphicFramePr/>
          <p:nvPr>
            <p:extLst>
              <p:ext uri="{D42A27DB-BD31-4B8C-83A1-F6EECF244321}">
                <p14:modId xmlns:p14="http://schemas.microsoft.com/office/powerpoint/2010/main" val="3283385454"/>
              </p:ext>
            </p:extLst>
          </p:nvPr>
        </p:nvGraphicFramePr>
        <p:xfrm>
          <a:off x="63082" y="1025425"/>
          <a:ext cx="9736900" cy="5409248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105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6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변경일</a:t>
                      </a:r>
                      <a:endParaRPr/>
                    </a:p>
                  </a:txBody>
                  <a:tcPr marL="126275" marR="126275" marT="55200" marB="5520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/>
                    </a:p>
                  </a:txBody>
                  <a:tcPr marL="126275" marR="126275" marT="55200" marB="552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 내용</a:t>
                      </a:r>
                      <a:endParaRPr/>
                    </a:p>
                  </a:txBody>
                  <a:tcPr marL="126275" marR="126275" marT="55200" marB="552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/>
                    </a:p>
                  </a:txBody>
                  <a:tcPr marL="126275" marR="126275" marT="55200" marB="552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승인자</a:t>
                      </a:r>
                      <a:endParaRPr/>
                    </a:p>
                  </a:txBody>
                  <a:tcPr marL="126275" marR="126275" marT="55200" marB="552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2025-12-18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/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5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최초작성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김선화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3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Char char="-"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952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6096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952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0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49725" marR="49725" marT="43475" marB="43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1" name="Google Shape;51;p2"/>
          <p:cNvSpPr txBox="1"/>
          <p:nvPr/>
        </p:nvSpPr>
        <p:spPr>
          <a:xfrm>
            <a:off x="4124908" y="552979"/>
            <a:ext cx="1656184" cy="57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제·개정 이력</a:t>
            </a: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Google Shape;56;p3"/>
          <p:cNvGraphicFramePr/>
          <p:nvPr>
            <p:extLst>
              <p:ext uri="{D42A27DB-BD31-4B8C-83A1-F6EECF244321}">
                <p14:modId xmlns:p14="http://schemas.microsoft.com/office/powerpoint/2010/main" val="1891361546"/>
              </p:ext>
            </p:extLst>
          </p:nvPr>
        </p:nvGraphicFramePr>
        <p:xfrm>
          <a:off x="25686" y="927713"/>
          <a:ext cx="9834272" cy="546617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1325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2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0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475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7538" marR="127538" marT="51486" marB="51486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7538" marR="127538" marT="51486" marB="51486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설명</a:t>
                      </a:r>
                      <a:endParaRPr sz="1100"/>
                    </a:p>
                  </a:txBody>
                  <a:tcPr marL="127538" marR="127538" marT="51486" marB="51486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100"/>
                    </a:p>
                  </a:txBody>
                  <a:tcPr marL="127538" marR="127538" marT="51486" marB="51486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승인자</a:t>
                      </a:r>
                      <a:endParaRPr sz="1100"/>
                    </a:p>
                  </a:txBody>
                  <a:tcPr marL="127538" marR="127538" marT="51486" marB="51486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CC-UI-001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 화면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header / nav / main-board / sub-board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536050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2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</a:t>
                      </a: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 프로그램의 핵심인 챗봇을 사용하여 업무의 요청을 전달</a:t>
                      </a:r>
                    </a:p>
                  </a:txBody>
                  <a:tcPr marL="360000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3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검토후전달화면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1/2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 → 검토후전달화면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상단화면</a:t>
                      </a:r>
                    </a:p>
                  </a:txBody>
                  <a:tcPr marL="360000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4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검토후전달화면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2/2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 → 검토후전달화면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하단화면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7266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5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 화면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요청사항 모든 리스트 및 필터링된 검색 결과 표출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72515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6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화면</a:t>
                      </a: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선택시 해당 리스트 보여줌</a:t>
                      </a:r>
                    </a:p>
                  </a:txBody>
                  <a:tcPr marL="360000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7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파일함 화면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업로드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검색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저장용량 표시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/>
                        <a:t>CC-UI-00</a:t>
                      </a:r>
                      <a:r>
                        <a:rPr lang="en-US" sz="1100"/>
                        <a:t>8</a:t>
                      </a:r>
                      <a:endParaRPr sz="1100"/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5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1/5</a:t>
                      </a:r>
                      <a:endParaRPr lang="ko-KR" altLang="en-US" sz="105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정보 변경 페이지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/>
                        <a:t>CC-UI-009</a:t>
                      </a:r>
                    </a:p>
                  </a:txBody>
                  <a:tcPr marL="6414" marR="6414" marT="5923" marB="0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2/5</a:t>
                      </a:r>
                      <a:endParaRPr kumimoji="0" lang="ko-KR" altLang="en-US" sz="10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회사 정보 변경 페이지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985984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/>
                        <a:t>CC-UI-010</a:t>
                      </a:r>
                    </a:p>
                  </a:txBody>
                  <a:tcPr marL="6414" marR="6414" marT="5923" marB="0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3/5</a:t>
                      </a:r>
                      <a:endParaRPr kumimoji="0" lang="ko-KR" altLang="en-US" sz="10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 추가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 페이지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801733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/>
                        <a:t>CC-UI-011</a:t>
                      </a:r>
                    </a:p>
                  </a:txBody>
                  <a:tcPr marL="6414" marR="6414" marT="5923" marB="0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4/5</a:t>
                      </a:r>
                      <a:endParaRPr kumimoji="0" lang="ko-KR" altLang="en-US" sz="10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팀원의 권한 정보 변경 페이지</a:t>
                      </a:r>
                    </a:p>
                  </a:txBody>
                  <a:tcPr marL="360000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611278"/>
                  </a:ext>
                </a:extLst>
              </a:tr>
              <a:tr h="4204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/>
                        <a:t>CC-UI-012</a:t>
                      </a:r>
                    </a:p>
                  </a:txBody>
                  <a:tcPr marL="6414" marR="6414" marT="5923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kumimoji="0" lang="ko-KR" altLang="en-US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kumimoji="0" lang="en-US" altLang="ko-KR" sz="105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5/5</a:t>
                      </a:r>
                      <a:endParaRPr kumimoji="0" lang="ko-KR" altLang="en-US" sz="10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알림 정보 변경 페이지</a:t>
                      </a:r>
                    </a:p>
                  </a:txBody>
                  <a:tcPr marL="360000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박건영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김선화</a:t>
                      </a:r>
                    </a:p>
                  </a:txBody>
                  <a:tcPr marL="50223" marR="50223" marT="40550" marB="405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7" name="Google Shape;57;p3"/>
          <p:cNvSpPr txBox="1"/>
          <p:nvPr/>
        </p:nvSpPr>
        <p:spPr>
          <a:xfrm>
            <a:off x="4124908" y="519112"/>
            <a:ext cx="1656184" cy="57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화면목록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930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/>
          <p:cNvGraphicFramePr/>
          <p:nvPr>
            <p:extLst>
              <p:ext uri="{D42A27DB-BD31-4B8C-83A1-F6EECF244321}">
                <p14:modId xmlns:p14="http://schemas.microsoft.com/office/powerpoint/2010/main" val="1408263356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08">
                <a:tc rowSpan="1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웹페이지명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회사명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소속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새요청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파일함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바로가기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이름표출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이름으로 인삿말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⑤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챗봇이용하기 바로가기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챗봇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Arial"/>
                          <a:cs typeface="Arial"/>
                          <a:sym typeface="Arial"/>
                        </a:rPr>
                        <a:t>CC-UI-002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으로 이동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⑥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알람 읽기전 갯수 표시 및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요청 화면으로 바로가기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43181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⑦</a:t>
                      </a:r>
                      <a:endParaRPr lang="en-US" altLang="ko-KR"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업무 처리 완료 갯수 표시 및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완료 화면으로 바로가기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488229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⑧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추가 정보 필요 갯수 표시 및</a:t>
                      </a:r>
                      <a:endParaRPr lang="en-US" altLang="ko-KR" sz="900">
                        <a:solidFill>
                          <a:srgbClr val="0C07E9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추가 정보 화면으로 바로가기</a:t>
                      </a:r>
                      <a:endParaRPr lang="en-US" altLang="ko-KR"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⑨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내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요청 티켓 표출 및 클릭시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Arial"/>
                          <a:cs typeface="Arial"/>
                          <a:sym typeface="Arial"/>
                        </a:rPr>
                        <a:t>CC-UI-003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으로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바로가기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⑩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중요도 표시</a:t>
                      </a: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⑪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클릭시 전체 티켓 바로가기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⑫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최근 공지사항 표출 및</a:t>
                      </a:r>
                      <a:endParaRPr lang="en-US" altLang="ko-KR" sz="900">
                        <a:solidFill>
                          <a:srgbClr val="0C07E9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클릭시 게시판 바로가기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⑬</a:t>
                      </a: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목록 표출 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⑭</a:t>
                      </a: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클릭시 게시판 바로가기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9276208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800" marB="46800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087274"/>
                  </a:ext>
                </a:extLst>
              </a:tr>
            </a:tbl>
          </a:graphicData>
        </a:graphic>
      </p:graphicFrame>
      <p:graphicFrame>
        <p:nvGraphicFramePr>
          <p:cNvPr id="81" name="Google Shape;81;p7"/>
          <p:cNvGraphicFramePr/>
          <p:nvPr>
            <p:extLst>
              <p:ext uri="{D42A27DB-BD31-4B8C-83A1-F6EECF244321}">
                <p14:modId xmlns:p14="http://schemas.microsoft.com/office/powerpoint/2010/main" val="2252891534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altLang="ko-KR" sz="1000"/>
                        <a:t>CC-UI-001</a:t>
                      </a: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 화면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 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header / nav / main-board / sub-board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9095616-CB8F-6242-764B-34B7BB092209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1DE6B8-41B3-3920-9C29-2F0BA9643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B2252D9-2B65-53D6-9080-8DF991E95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786" y="1370561"/>
            <a:ext cx="3378200" cy="2614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5A5C54E-895E-106E-23C8-91623A29F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3F1DC2AF-E6BA-67ED-3BB0-27F30546B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4614" y="2949635"/>
            <a:ext cx="2330041" cy="68842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AFF2C98E-E9CE-25DC-AB75-8CDE957BA1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7186" y="2953889"/>
            <a:ext cx="2330042" cy="679913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63" name="그룹 62">
            <a:extLst>
              <a:ext uri="{FF2B5EF4-FFF2-40B4-BE49-F238E27FC236}">
                <a16:creationId xmlns:a16="http://schemas.microsoft.com/office/drawing/2014/main" id="{C7B9902C-6D7D-085B-7226-47817A555D0C}"/>
              </a:ext>
            </a:extLst>
          </p:cNvPr>
          <p:cNvGrpSpPr/>
          <p:nvPr/>
        </p:nvGrpSpPr>
        <p:grpSpPr>
          <a:xfrm>
            <a:off x="187317" y="1680125"/>
            <a:ext cx="7350133" cy="1230349"/>
            <a:chOff x="187317" y="1680125"/>
            <a:chExt cx="7350133" cy="1230349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EF8DF99-2B4C-3E43-5842-D729D1985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7317" y="1680125"/>
              <a:ext cx="7350133" cy="123034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7B5610E7-60E7-DDBA-78E2-D5163FA52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9867" y="2368006"/>
              <a:ext cx="1069983" cy="354139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3148E733-A8D2-E5B0-0945-71BB5A3326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679" y="2391486"/>
            <a:ext cx="1162058" cy="390528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2AE5FBEA-B5E5-5BB2-33A1-5925D7DC1D59}"/>
              </a:ext>
            </a:extLst>
          </p:cNvPr>
          <p:cNvGrpSpPr/>
          <p:nvPr/>
        </p:nvGrpSpPr>
        <p:grpSpPr>
          <a:xfrm>
            <a:off x="420679" y="3698433"/>
            <a:ext cx="3360162" cy="2597834"/>
            <a:chOff x="494595" y="3698433"/>
            <a:chExt cx="3360162" cy="2597834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68D7550-C1AA-10E6-2328-7E9D0C41B23C}"/>
                </a:ext>
              </a:extLst>
            </p:cNvPr>
            <p:cNvGrpSpPr/>
            <p:nvPr/>
          </p:nvGrpSpPr>
          <p:grpSpPr>
            <a:xfrm>
              <a:off x="494595" y="3698433"/>
              <a:ext cx="3360162" cy="2597834"/>
              <a:chOff x="494595" y="3698433"/>
              <a:chExt cx="3360162" cy="2597834"/>
            </a:xfrm>
          </p:grpSpPr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085CB208-5BE3-4E5D-9DB5-78D7E94E7B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4595" y="3698433"/>
                <a:ext cx="3360162" cy="259783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</p:pic>
          <p:pic>
            <p:nvPicPr>
              <p:cNvPr id="68" name="그림 67">
                <a:extLst>
                  <a:ext uri="{FF2B5EF4-FFF2-40B4-BE49-F238E27FC236}">
                    <a16:creationId xmlns:a16="http://schemas.microsoft.com/office/drawing/2014/main" id="{BA173529-1A77-B1A2-3B21-D178069E3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2145" y="4287901"/>
                <a:ext cx="2919735" cy="436499"/>
              </a:xfrm>
              <a:prstGeom prst="rect">
                <a:avLst/>
              </a:prstGeom>
            </p:spPr>
          </p:pic>
          <p:pic>
            <p:nvPicPr>
              <p:cNvPr id="69" name="그림 68">
                <a:extLst>
                  <a:ext uri="{FF2B5EF4-FFF2-40B4-BE49-F238E27FC236}">
                    <a16:creationId xmlns:a16="http://schemas.microsoft.com/office/drawing/2014/main" id="{4D754E20-9FC3-59BD-9D7B-20E214D5F8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2145" y="4831593"/>
                <a:ext cx="2919735" cy="436499"/>
              </a:xfrm>
              <a:prstGeom prst="rect">
                <a:avLst/>
              </a:prstGeom>
            </p:spPr>
          </p:pic>
          <p:pic>
            <p:nvPicPr>
              <p:cNvPr id="70" name="그림 69">
                <a:extLst>
                  <a:ext uri="{FF2B5EF4-FFF2-40B4-BE49-F238E27FC236}">
                    <a16:creationId xmlns:a16="http://schemas.microsoft.com/office/drawing/2014/main" id="{F4C293AF-48E0-530D-297A-A7E55B925F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2145" y="5421630"/>
                <a:ext cx="2919735" cy="387936"/>
              </a:xfrm>
              <a:prstGeom prst="rect">
                <a:avLst/>
              </a:prstGeom>
            </p:spPr>
          </p:pic>
        </p:grpSp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9144B57C-0C7D-FB1F-4D85-6C50388FC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839946" y="5894125"/>
              <a:ext cx="669460" cy="240884"/>
            </a:xfrm>
            <a:prstGeom prst="rect">
              <a:avLst/>
            </a:prstGeom>
          </p:spPr>
        </p:pic>
      </p:grpSp>
      <p:pic>
        <p:nvPicPr>
          <p:cNvPr id="82" name="그림 81">
            <a:extLst>
              <a:ext uri="{FF2B5EF4-FFF2-40B4-BE49-F238E27FC236}">
                <a16:creationId xmlns:a16="http://schemas.microsoft.com/office/drawing/2014/main" id="{B51B52E7-746B-C97D-99ED-2E18D920173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2145" y="4344892"/>
            <a:ext cx="1472663" cy="32047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4FB79BF9-22D1-1D1D-06D4-2FF9E01750C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66486" y="4375997"/>
            <a:ext cx="325380" cy="22526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E6A5426A-D9B2-1B89-B683-4EA6ED679C0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2145" y="4915923"/>
            <a:ext cx="1706480" cy="30702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B6BBF322-0970-97C2-11A7-FDB7665D446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2145" y="5473501"/>
            <a:ext cx="1379376" cy="28419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62F958FD-ACC5-7F6C-F795-CB0A78AB08F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54679" y="4939982"/>
            <a:ext cx="337187" cy="20873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4726AB0A-2E32-BE2F-5F4E-DC357959B4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66486" y="5487439"/>
            <a:ext cx="325380" cy="22526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B844B326-5893-9F5F-D33F-0E49D780BBC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2916" y="5949162"/>
            <a:ext cx="3021344" cy="231836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D50230BB-1821-2899-759F-7C40F19EF40A}"/>
              </a:ext>
            </a:extLst>
          </p:cNvPr>
          <p:cNvGrpSpPr/>
          <p:nvPr/>
        </p:nvGrpSpPr>
        <p:grpSpPr>
          <a:xfrm>
            <a:off x="3892927" y="3698433"/>
            <a:ext cx="3398287" cy="2597834"/>
            <a:chOff x="3892927" y="3698433"/>
            <a:chExt cx="3398287" cy="2597834"/>
          </a:xfrm>
        </p:grpSpPr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C01AC2CC-0EBE-8182-556C-0F2A8BDD4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892927" y="3698433"/>
              <a:ext cx="3398287" cy="2597834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BC7EDB84-75D1-26EB-6FB4-E7824AD83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188134" y="4317176"/>
              <a:ext cx="2837506" cy="342903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DC66AAB7-D5D0-C6D4-F8FC-EB0E9CECC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188134" y="4855429"/>
              <a:ext cx="2837506" cy="342903"/>
            </a:xfrm>
            <a:prstGeom prst="rect">
              <a:avLst/>
            </a:prstGeom>
          </p:spPr>
        </p:pic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8E2A1F3D-6781-1372-F184-5953FE8C7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188134" y="5393682"/>
              <a:ext cx="2837506" cy="342903"/>
            </a:xfrm>
            <a:prstGeom prst="rect">
              <a:avLst/>
            </a:prstGeom>
          </p:spPr>
        </p:pic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CD702828-7C4E-BBFD-E072-4916ECCBA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188134" y="5852705"/>
              <a:ext cx="2837506" cy="209323"/>
            </a:xfrm>
            <a:prstGeom prst="rect">
              <a:avLst/>
            </a:prstGeom>
          </p:spPr>
        </p:pic>
      </p:grpSp>
      <p:pic>
        <p:nvPicPr>
          <p:cNvPr id="103" name="그림 102">
            <a:extLst>
              <a:ext uri="{FF2B5EF4-FFF2-40B4-BE49-F238E27FC236}">
                <a16:creationId xmlns:a16="http://schemas.microsoft.com/office/drawing/2014/main" id="{6A30DCAE-159C-5518-C64B-9E8CB8DD377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30405" y="4344892"/>
            <a:ext cx="1423636" cy="32070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F556D660-2494-9487-5722-392739D8831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30405" y="4912400"/>
            <a:ext cx="836895" cy="28884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7EE3F3AB-38E4-3C3F-293C-A28CF0373C9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30405" y="5448039"/>
            <a:ext cx="786769" cy="29689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D7043F14-996D-6E46-B68F-C565C739941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26886" y="5922317"/>
            <a:ext cx="2948284" cy="25291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D01C72CD-96C2-B83A-CED6-771BC5ED31D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43673" y="4400174"/>
            <a:ext cx="431962" cy="20108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35A65E69-A84D-0708-66B1-B0E96825285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42491" y="4929957"/>
            <a:ext cx="333144" cy="22714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482EFF1A-BB15-9717-6B73-9A4941B53417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08455" y="5485798"/>
            <a:ext cx="467180" cy="22210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B816D916-6BE7-E22B-2CB1-9A6F8849ACD5}"/>
              </a:ext>
            </a:extLst>
          </p:cNvPr>
          <p:cNvSpPr txBox="1"/>
          <p:nvPr/>
        </p:nvSpPr>
        <p:spPr>
          <a:xfrm>
            <a:off x="1735454" y="129557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323835D-6418-3EBC-1162-C2E3CA585780}"/>
              </a:ext>
            </a:extLst>
          </p:cNvPr>
          <p:cNvSpPr txBox="1"/>
          <p:nvPr/>
        </p:nvSpPr>
        <p:spPr>
          <a:xfrm>
            <a:off x="5736611" y="129557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7A98678-6CE4-3527-6988-35656A444A2E}"/>
              </a:ext>
            </a:extLst>
          </p:cNvPr>
          <p:cNvSpPr txBox="1"/>
          <p:nvPr/>
        </p:nvSpPr>
        <p:spPr>
          <a:xfrm>
            <a:off x="6592820" y="129557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AAEFACA-56AF-0C6A-F3E4-C995375E1AA2}"/>
              </a:ext>
            </a:extLst>
          </p:cNvPr>
          <p:cNvSpPr txBox="1"/>
          <p:nvPr/>
        </p:nvSpPr>
        <p:spPr>
          <a:xfrm>
            <a:off x="2108192" y="179729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1DEECDF-5E92-CCE0-5089-B92C1974723A}"/>
              </a:ext>
            </a:extLst>
          </p:cNvPr>
          <p:cNvSpPr txBox="1"/>
          <p:nvPr/>
        </p:nvSpPr>
        <p:spPr>
          <a:xfrm>
            <a:off x="1616805" y="240176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⑤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74D5462-6D98-7F84-E2B1-F33FB260DD3E}"/>
              </a:ext>
            </a:extLst>
          </p:cNvPr>
          <p:cNvSpPr txBox="1"/>
          <p:nvPr/>
        </p:nvSpPr>
        <p:spPr>
          <a:xfrm>
            <a:off x="3631616" y="307404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⑦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D2EC6BF-E934-8735-E28C-6342598864E7}"/>
              </a:ext>
            </a:extLst>
          </p:cNvPr>
          <p:cNvSpPr txBox="1"/>
          <p:nvPr/>
        </p:nvSpPr>
        <p:spPr>
          <a:xfrm>
            <a:off x="6294370" y="307404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⑧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7875642-34A6-5C48-EF3B-B19C3A8BC8EF}"/>
              </a:ext>
            </a:extLst>
          </p:cNvPr>
          <p:cNvSpPr txBox="1"/>
          <p:nvPr/>
        </p:nvSpPr>
        <p:spPr>
          <a:xfrm>
            <a:off x="2161565" y="4010083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⑨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CABEFA4-00F8-399A-1D10-4CB4F73E0437}"/>
              </a:ext>
            </a:extLst>
          </p:cNvPr>
          <p:cNvSpPr txBox="1"/>
          <p:nvPr/>
        </p:nvSpPr>
        <p:spPr>
          <a:xfrm>
            <a:off x="3248639" y="403531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⑩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66922DA-22B5-815F-C059-DB4B813F27AD}"/>
              </a:ext>
            </a:extLst>
          </p:cNvPr>
          <p:cNvSpPr txBox="1"/>
          <p:nvPr/>
        </p:nvSpPr>
        <p:spPr>
          <a:xfrm>
            <a:off x="5451803" y="399429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⑫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9CD4B70-0228-EC98-25FB-53C210F26B92}"/>
              </a:ext>
            </a:extLst>
          </p:cNvPr>
          <p:cNvSpPr txBox="1"/>
          <p:nvPr/>
        </p:nvSpPr>
        <p:spPr>
          <a:xfrm>
            <a:off x="6677185" y="4063712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⑬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DADEEF9-AD94-C3C9-0A40-9D0E9E8FC7A8}"/>
              </a:ext>
            </a:extLst>
          </p:cNvPr>
          <p:cNvSpPr txBox="1"/>
          <p:nvPr/>
        </p:nvSpPr>
        <p:spPr>
          <a:xfrm>
            <a:off x="2571208" y="572547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⑪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3BB1EAA-AC60-1ABD-3763-E56F12E953C7}"/>
              </a:ext>
            </a:extLst>
          </p:cNvPr>
          <p:cNvSpPr txBox="1"/>
          <p:nvPr/>
        </p:nvSpPr>
        <p:spPr>
          <a:xfrm>
            <a:off x="5885836" y="5733623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⑭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FD699DC6-D099-E4DF-4A67-86F2233E9E71}"/>
              </a:ext>
            </a:extLst>
          </p:cNvPr>
          <p:cNvGrpSpPr/>
          <p:nvPr/>
        </p:nvGrpSpPr>
        <p:grpSpPr>
          <a:xfrm>
            <a:off x="269867" y="2949635"/>
            <a:ext cx="2292216" cy="688421"/>
            <a:chOff x="269867" y="2949635"/>
            <a:chExt cx="2292216" cy="688421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77DD862-07AC-31A2-4245-D59BE4598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269867" y="2949635"/>
              <a:ext cx="2292216" cy="68842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31" name="그림 130">
              <a:extLst>
                <a:ext uri="{FF2B5EF4-FFF2-40B4-BE49-F238E27FC236}">
                  <a16:creationId xmlns:a16="http://schemas.microsoft.com/office/drawing/2014/main" id="{D97C6401-9162-4DDB-153E-9659A7719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03908" y="3027062"/>
              <a:ext cx="471416" cy="208855"/>
            </a:xfrm>
            <a:prstGeom prst="rect">
              <a:avLst/>
            </a:prstGeom>
          </p:spPr>
        </p:pic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358F2691-80F2-E0A6-9358-063AA26179AF}"/>
              </a:ext>
            </a:extLst>
          </p:cNvPr>
          <p:cNvSpPr txBox="1"/>
          <p:nvPr/>
        </p:nvSpPr>
        <p:spPr>
          <a:xfrm>
            <a:off x="1190625" y="309395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⑥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864CE03-783D-883A-C722-B2D6FF9D240C}"/>
              </a:ext>
            </a:extLst>
          </p:cNvPr>
          <p:cNvSpPr txBox="1"/>
          <p:nvPr/>
        </p:nvSpPr>
        <p:spPr>
          <a:xfrm>
            <a:off x="329329" y="3067107"/>
            <a:ext cx="4539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1">
                <a:solidFill>
                  <a:schemeClr val="bg1">
                    <a:lumMod val="50000"/>
                  </a:schemeClr>
                </a:solidFill>
              </a:rPr>
              <a:t>읽기전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7FABA375-DD34-48E5-1241-EC7B11C82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08DEBAF3-4E07-0F85-0190-893D116F23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8412140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08">
                <a:tc rowSpan="1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빠른 응답 선택 하면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③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⑦에 선택됨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첨부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100MB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이하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엔터 및 클릭으로 챗봇에 전송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현재까지 내용 임시저장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⑤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검토화면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en-US" altLang="ko-KR" sz="900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</a:rPr>
                        <a:t>CC-UI-003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highlight>
                          <a:srgbClr val="FFFF00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으로 이동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⑥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티켓완성도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%,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43181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⑦</a:t>
                      </a:r>
                      <a:endParaRPr lang="en-US" altLang="ko-KR"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요청제목 자동입력 및 수정가능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488229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⑧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요청 요약 자동입력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수정가능</a:t>
                      </a:r>
                      <a:endParaRPr lang="en-US" altLang="ko-KR"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⑨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요청 배경  자동입력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수정가능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⑩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요구사항  자동입력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수정가능</a:t>
                      </a:r>
                      <a:endParaRPr lang="ko-KR" altLang="en-US"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⑪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마감일  자동입력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수정가능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⑫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우선순위 선택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⑬</a:t>
                      </a: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 </a:t>
                      </a: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 자동입력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수정가능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⑭</a:t>
                      </a: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태그 입력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9276208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800" marB="46800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087274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18D271B0-70FD-F49B-06AE-5C065294D9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3810944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CC-UI-002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 프로그램의 핵심인 챗봇을 사용하여 업무의 요청을 전달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B51A0F6D-D629-B752-891B-155765427D18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471A0F-C8B3-419B-79BB-5616BC5BB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58BE3B2-C64C-5A2F-770F-B4FF833FC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9794014-7D73-C697-43BE-92FC62ED5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59" y="1737268"/>
            <a:ext cx="1502858" cy="3074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8B488D-73D8-D6EA-7BFE-5DE0E6AC61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44" y="2149928"/>
            <a:ext cx="3511217" cy="375896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C68E43-532B-A6F1-6F1C-519ADFB898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4808" y="1786434"/>
            <a:ext cx="781056" cy="30480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0DC5F3-90DA-93DB-C683-E327A3BE66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395" y="1784819"/>
            <a:ext cx="866781" cy="2952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BAB2AC-127C-D17B-DE91-AE97046BD1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8831" y="2160605"/>
            <a:ext cx="3511779" cy="375896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C13AB7-1059-AAF4-7FCF-FAB1FA60AD0D}"/>
              </a:ext>
            </a:extLst>
          </p:cNvPr>
          <p:cNvSpPr/>
          <p:nvPr/>
        </p:nvSpPr>
        <p:spPr>
          <a:xfrm>
            <a:off x="415966" y="5072063"/>
            <a:ext cx="1619250" cy="357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308A49-AA52-0827-E2D9-C2017225E47B}"/>
              </a:ext>
            </a:extLst>
          </p:cNvPr>
          <p:cNvSpPr/>
          <p:nvPr/>
        </p:nvSpPr>
        <p:spPr>
          <a:xfrm>
            <a:off x="513159" y="5581650"/>
            <a:ext cx="114738" cy="144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2E1B344-F628-1A6B-1E5E-4A7C0C7695D8}"/>
              </a:ext>
            </a:extLst>
          </p:cNvPr>
          <p:cNvSpPr/>
          <p:nvPr/>
        </p:nvSpPr>
        <p:spPr>
          <a:xfrm>
            <a:off x="678836" y="5490479"/>
            <a:ext cx="3032104" cy="319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2FBD0F-1301-7FE5-3D5B-C62597B4C2F2}"/>
              </a:ext>
            </a:extLst>
          </p:cNvPr>
          <p:cNvSpPr/>
          <p:nvPr/>
        </p:nvSpPr>
        <p:spPr>
          <a:xfrm>
            <a:off x="4132896" y="2222697"/>
            <a:ext cx="3032104" cy="319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B2266D-62B3-E18B-ADF0-523C49BF2F60}"/>
              </a:ext>
            </a:extLst>
          </p:cNvPr>
          <p:cNvSpPr/>
          <p:nvPr/>
        </p:nvSpPr>
        <p:spPr>
          <a:xfrm>
            <a:off x="4132896" y="2598814"/>
            <a:ext cx="3032104" cy="3197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B175AE-CD51-0FE2-ACDB-4EAC7F3CDA45}"/>
              </a:ext>
            </a:extLst>
          </p:cNvPr>
          <p:cNvSpPr/>
          <p:nvPr/>
        </p:nvSpPr>
        <p:spPr>
          <a:xfrm>
            <a:off x="4132896" y="3029263"/>
            <a:ext cx="3032104" cy="5378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B8A49F-A9F8-2041-34A5-1D687D1FD030}"/>
              </a:ext>
            </a:extLst>
          </p:cNvPr>
          <p:cNvSpPr/>
          <p:nvPr/>
        </p:nvSpPr>
        <p:spPr>
          <a:xfrm>
            <a:off x="4126886" y="3622735"/>
            <a:ext cx="3032104" cy="5378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0F24BEC-C5C2-A4C6-7479-404BB337468E}"/>
              </a:ext>
            </a:extLst>
          </p:cNvPr>
          <p:cNvSpPr/>
          <p:nvPr/>
        </p:nvSpPr>
        <p:spPr>
          <a:xfrm>
            <a:off x="4126886" y="4217102"/>
            <a:ext cx="3032104" cy="312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5BC0557-74A4-1862-70F3-0C7D2154A260}"/>
              </a:ext>
            </a:extLst>
          </p:cNvPr>
          <p:cNvSpPr/>
          <p:nvPr/>
        </p:nvSpPr>
        <p:spPr>
          <a:xfrm>
            <a:off x="4126886" y="4575439"/>
            <a:ext cx="1478577" cy="429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A91C5F0-3076-AA70-810B-8ECCB3915F71}"/>
              </a:ext>
            </a:extLst>
          </p:cNvPr>
          <p:cNvSpPr/>
          <p:nvPr/>
        </p:nvSpPr>
        <p:spPr>
          <a:xfrm>
            <a:off x="5680083" y="4575439"/>
            <a:ext cx="1478577" cy="429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552E922-536A-AE3D-1291-3AF3A4D67438}"/>
              </a:ext>
            </a:extLst>
          </p:cNvPr>
          <p:cNvSpPr/>
          <p:nvPr/>
        </p:nvSpPr>
        <p:spPr>
          <a:xfrm>
            <a:off x="4126886" y="5051118"/>
            <a:ext cx="3032104" cy="312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297000-54E8-E4FD-280B-73B60113560B}"/>
              </a:ext>
            </a:extLst>
          </p:cNvPr>
          <p:cNvSpPr/>
          <p:nvPr/>
        </p:nvSpPr>
        <p:spPr>
          <a:xfrm>
            <a:off x="4126886" y="5466322"/>
            <a:ext cx="3032104" cy="312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CBCFE0-F6D7-A4BC-1205-CAD48057044A}"/>
              </a:ext>
            </a:extLst>
          </p:cNvPr>
          <p:cNvSpPr txBox="1"/>
          <p:nvPr/>
        </p:nvSpPr>
        <p:spPr>
          <a:xfrm>
            <a:off x="1897576" y="4866092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434496-F730-DCC3-40F4-91179910350E}"/>
              </a:ext>
            </a:extLst>
          </p:cNvPr>
          <p:cNvSpPr txBox="1"/>
          <p:nvPr/>
        </p:nvSpPr>
        <p:spPr>
          <a:xfrm>
            <a:off x="231913" y="551518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62C841-D82B-FF2C-8868-023A475FFEE1}"/>
              </a:ext>
            </a:extLst>
          </p:cNvPr>
          <p:cNvSpPr txBox="1"/>
          <p:nvPr/>
        </p:nvSpPr>
        <p:spPr>
          <a:xfrm>
            <a:off x="3088294" y="530597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A6065D-BDC2-9A2D-7700-08F06E0980A3}"/>
              </a:ext>
            </a:extLst>
          </p:cNvPr>
          <p:cNvSpPr txBox="1"/>
          <p:nvPr/>
        </p:nvSpPr>
        <p:spPr>
          <a:xfrm>
            <a:off x="5246358" y="171635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CF57D0-FBAC-6874-889F-BDD4290D309B}"/>
              </a:ext>
            </a:extLst>
          </p:cNvPr>
          <p:cNvSpPr txBox="1"/>
          <p:nvPr/>
        </p:nvSpPr>
        <p:spPr>
          <a:xfrm>
            <a:off x="7192921" y="171635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⑤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677753-72FD-058A-C323-B76644C8A366}"/>
              </a:ext>
            </a:extLst>
          </p:cNvPr>
          <p:cNvSpPr txBox="1"/>
          <p:nvPr/>
        </p:nvSpPr>
        <p:spPr>
          <a:xfrm>
            <a:off x="3872044" y="2617482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FF2C92-B9E9-8D05-19AB-3AEC1E526A88}"/>
              </a:ext>
            </a:extLst>
          </p:cNvPr>
          <p:cNvSpPr txBox="1"/>
          <p:nvPr/>
        </p:nvSpPr>
        <p:spPr>
          <a:xfrm>
            <a:off x="3872044" y="306173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⑧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3BF761-192C-6167-B66E-932FBF7D8CDF}"/>
              </a:ext>
            </a:extLst>
          </p:cNvPr>
          <p:cNvSpPr txBox="1"/>
          <p:nvPr/>
        </p:nvSpPr>
        <p:spPr>
          <a:xfrm>
            <a:off x="3872044" y="380690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⑨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A69D3A-ED6D-0633-3800-D0BFD3E276D3}"/>
              </a:ext>
            </a:extLst>
          </p:cNvPr>
          <p:cNvSpPr txBox="1"/>
          <p:nvPr/>
        </p:nvSpPr>
        <p:spPr>
          <a:xfrm>
            <a:off x="3872044" y="507020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45B1A0-8237-7AB3-AFF1-E73B2E7EFC50}"/>
              </a:ext>
            </a:extLst>
          </p:cNvPr>
          <p:cNvSpPr txBox="1"/>
          <p:nvPr/>
        </p:nvSpPr>
        <p:spPr>
          <a:xfrm>
            <a:off x="3872044" y="550263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1DD836-6964-2FF9-0BD0-8358FF51F6AA}"/>
              </a:ext>
            </a:extLst>
          </p:cNvPr>
          <p:cNvSpPr txBox="1"/>
          <p:nvPr/>
        </p:nvSpPr>
        <p:spPr>
          <a:xfrm>
            <a:off x="3872044" y="2156843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⑥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DA292C-3348-8248-4527-C168FE25B39D}"/>
              </a:ext>
            </a:extLst>
          </p:cNvPr>
          <p:cNvSpPr txBox="1"/>
          <p:nvPr/>
        </p:nvSpPr>
        <p:spPr>
          <a:xfrm>
            <a:off x="3872044" y="423707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⑩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1DC8C5-D0A7-6079-B86B-61E090D66C6D}"/>
              </a:ext>
            </a:extLst>
          </p:cNvPr>
          <p:cNvSpPr txBox="1"/>
          <p:nvPr/>
        </p:nvSpPr>
        <p:spPr>
          <a:xfrm>
            <a:off x="3872044" y="460287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⑪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CEA840-22E7-5E12-FEF1-881BFFC0C4AB}"/>
              </a:ext>
            </a:extLst>
          </p:cNvPr>
          <p:cNvSpPr txBox="1"/>
          <p:nvPr/>
        </p:nvSpPr>
        <p:spPr>
          <a:xfrm>
            <a:off x="6176639" y="454479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⑫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3F26A21E-2FBA-1C59-297B-A419C27CC8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7786" y="1374191"/>
            <a:ext cx="3378200" cy="23148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1071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FAB13BBA-EE4C-0C39-7E47-13F410E5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546647E6-6A84-9F2A-A44F-7C426DB3F7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3709654"/>
              </p:ext>
            </p:extLst>
          </p:nvPr>
        </p:nvGraphicFramePr>
        <p:xfrm>
          <a:off x="26980" y="997004"/>
          <a:ext cx="9879020" cy="5584661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417">
                <a:tc rowSpan="1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전페이지이동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sym typeface="Arial"/>
                        </a:rPr>
                        <a:t>CC-UI-001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또는 새요청화면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sym typeface="Arial"/>
                        </a:rPr>
                        <a:t>CC-UI-002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새요청화면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CC-UI-002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요청제목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새요청화면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CC-UI-002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우선순위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높음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중간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낮음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)</a:t>
                      </a:r>
                      <a:endParaRPr lang="ko-KR" altLang="en-US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새요청화면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CC-UI-002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티켓정보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요약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배경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요구사항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첨부파일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⑤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검토요청 발송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sym typeface="Arial"/>
                        </a:rPr>
                        <a:t>CC-UI-001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로 이동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⑥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완료처리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(FLAG) 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sym typeface="Arial"/>
                        </a:rPr>
                        <a:t>CC-UI-001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로 이동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43181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⑦</a:t>
                      </a:r>
                      <a:endParaRPr lang="en-US" altLang="ko-KR"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현재상태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진행중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검토중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488229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⑧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새요청화면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CC-UI-002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sym typeface="Arial"/>
                        </a:rPr>
                        <a:t>의 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세부정보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요청자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담당자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생성일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마감일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태크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Arial"/>
                        </a:rPr>
                        <a:t>)</a:t>
                      </a:r>
                      <a:endParaRPr lang="ko-KR" altLang="en-US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⑨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>
                          <a:solidFill>
                            <a:srgbClr val="0C07E9"/>
                          </a:solidFill>
                        </a:rPr>
                        <a:t>스크롤 기능</a:t>
                      </a:r>
                      <a:endParaRPr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900">
                        <a:solidFill>
                          <a:srgbClr val="0C07E9"/>
                        </a:solidFill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417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800" marB="46800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087274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356C6342-C3AC-2BFB-DDB7-A6F55D8C77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5879375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CC-UI-003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검토후전달화면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1/2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 → 검토후전달화면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상단화면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4941BEB-2045-3A70-6E51-6DFC7912E3E3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B6C15D-E8FB-1C4D-43E7-F8CDD11FD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2B80D1D-B2A8-950D-ABD0-389D80CEF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D73831-9586-2F2C-1588-3003996B1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827" y="1695664"/>
            <a:ext cx="152401" cy="469351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C3CFF59-4936-8F0D-CB7B-43716CB1E9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42" y="1857441"/>
            <a:ext cx="219077" cy="20002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D09938B-73D8-037D-1791-2BF464FCBC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950" y="1763682"/>
            <a:ext cx="2219341" cy="44767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471C2D7-CE27-B59D-E367-B2233BF3FA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013" y="1775294"/>
            <a:ext cx="428628" cy="30480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DF6EE69-3DF8-6C0F-80B7-3DCF665611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343" y="2312222"/>
            <a:ext cx="4450706" cy="337064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E0DD207-3830-CACD-4E23-CB373A52BC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5964" y="2311283"/>
            <a:ext cx="2422178" cy="85818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6AF91484-D9DB-D868-0592-DF4EB474EC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6124" y="3233126"/>
            <a:ext cx="2432018" cy="236163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4960B367-BCE1-865F-EE40-41F0B50E1A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9961" y="1903866"/>
            <a:ext cx="742955" cy="3333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D2E39464-0FAA-8059-63FA-D6F93192EE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4596" y="1894355"/>
            <a:ext cx="714380" cy="33337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5450B32-9A2F-4301-FAC6-44E2EAC4CD21}"/>
              </a:ext>
            </a:extLst>
          </p:cNvPr>
          <p:cNvSpPr txBox="1"/>
          <p:nvPr/>
        </p:nvSpPr>
        <p:spPr>
          <a:xfrm>
            <a:off x="112802" y="197512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B1B344-BB53-34E7-A18F-9C9838706A36}"/>
              </a:ext>
            </a:extLst>
          </p:cNvPr>
          <p:cNvSpPr txBox="1"/>
          <p:nvPr/>
        </p:nvSpPr>
        <p:spPr>
          <a:xfrm>
            <a:off x="1999636" y="194933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49D8F6-13A6-C922-4C11-E7F0F325069B}"/>
              </a:ext>
            </a:extLst>
          </p:cNvPr>
          <p:cNvSpPr txBox="1"/>
          <p:nvPr/>
        </p:nvSpPr>
        <p:spPr>
          <a:xfrm>
            <a:off x="3248349" y="191666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F71CD1-6E45-524B-FFFC-2B6EB08814EA}"/>
              </a:ext>
            </a:extLst>
          </p:cNvPr>
          <p:cNvSpPr txBox="1"/>
          <p:nvPr/>
        </p:nvSpPr>
        <p:spPr>
          <a:xfrm>
            <a:off x="852483" y="235579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15F383-4369-B391-6713-4DDC76FB37B0}"/>
              </a:ext>
            </a:extLst>
          </p:cNvPr>
          <p:cNvSpPr txBox="1"/>
          <p:nvPr/>
        </p:nvSpPr>
        <p:spPr>
          <a:xfrm>
            <a:off x="5371511" y="185282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⑤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F5A081-F34B-52B3-4124-3B9FF2BAD600}"/>
              </a:ext>
            </a:extLst>
          </p:cNvPr>
          <p:cNvSpPr txBox="1"/>
          <p:nvPr/>
        </p:nvSpPr>
        <p:spPr>
          <a:xfrm>
            <a:off x="5303189" y="243574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⑦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CB7BF0-CD64-5298-B790-8E37CD7406A7}"/>
              </a:ext>
            </a:extLst>
          </p:cNvPr>
          <p:cNvSpPr txBox="1"/>
          <p:nvPr/>
        </p:nvSpPr>
        <p:spPr>
          <a:xfrm>
            <a:off x="5456238" y="334102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⑧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C17B58-485B-C188-22F7-43FA8B4052F5}"/>
              </a:ext>
            </a:extLst>
          </p:cNvPr>
          <p:cNvSpPr txBox="1"/>
          <p:nvPr/>
        </p:nvSpPr>
        <p:spPr>
          <a:xfrm>
            <a:off x="7103396" y="587151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⑨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E04D91-2F37-2B42-B57C-FF603C3E3234}"/>
              </a:ext>
            </a:extLst>
          </p:cNvPr>
          <p:cNvSpPr txBox="1"/>
          <p:nvPr/>
        </p:nvSpPr>
        <p:spPr>
          <a:xfrm>
            <a:off x="6620224" y="169397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⑥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1C581A1F-99CF-DCCD-4E30-CD23B5F8186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1416" y="1387893"/>
            <a:ext cx="3363940" cy="22235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08267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D68D42C-8C72-469E-2698-5CA1EA48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EEAC204F-0D89-6B8A-AF18-F511027E58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8762483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028"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챗봇 대화 기록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본인만 열람가능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20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요청사항관련 댓글 및 추가 질문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이름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담당자또는 요청자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댓글 시간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댓글 입력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2320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스크롤 기능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12320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3520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800" marB="46800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087274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C10ADBD7-1A69-C2D5-1788-6E875600E4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209439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CC-UI-004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검토후전달화면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2/2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새 요청 화면 → 검토후전달화면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239CAA50-C71D-99EF-B82A-DBB03CC50345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6BD175-6148-240F-AC71-66C78D7F0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201FCB1-E9D4-AEBB-106D-423273D7C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857C82-BD3F-0B20-978A-670CC2F2E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288" y="1749977"/>
            <a:ext cx="142876" cy="464367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87885B7-1719-81EF-541A-78F8C5DD53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21" y="1866034"/>
            <a:ext cx="3924329" cy="170498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7313A5F-F269-5A55-286B-154E6B4922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08" y="3692107"/>
            <a:ext cx="3895753" cy="172403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A15BE28-2FAB-8EC2-1AE5-EFC0622B7D45}"/>
              </a:ext>
            </a:extLst>
          </p:cNvPr>
          <p:cNvSpPr txBox="1"/>
          <p:nvPr/>
        </p:nvSpPr>
        <p:spPr>
          <a:xfrm>
            <a:off x="3919544" y="194603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C010BA-71CC-DD8B-158B-74DF6D7D5FAD}"/>
              </a:ext>
            </a:extLst>
          </p:cNvPr>
          <p:cNvSpPr txBox="1"/>
          <p:nvPr/>
        </p:nvSpPr>
        <p:spPr>
          <a:xfrm>
            <a:off x="3930655" y="3788513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1EF3A3-C445-C0FE-B7E6-BAB2FC4AF6E7}"/>
              </a:ext>
            </a:extLst>
          </p:cNvPr>
          <p:cNvSpPr txBox="1"/>
          <p:nvPr/>
        </p:nvSpPr>
        <p:spPr>
          <a:xfrm>
            <a:off x="6998313" y="180996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2B47BE9-A04D-6EA1-E4A3-749232FEE3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1416" y="1387893"/>
            <a:ext cx="3363940" cy="22235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515465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75BEAB9F-D4AB-99D2-2236-B937C1EC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064DBD15-9AEA-0912-CC97-DEADB5EBEA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8873939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015">
                <a:tc rowSpan="8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티켓검색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진행상태 필터</a:t>
                      </a:r>
                      <a:b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진행중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추가정보필요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검토중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우선순위 필터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내가요청한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담당중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 바로 선택 시 리스트 표출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⑤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요쳥 제목 및 </a:t>
                      </a:r>
                      <a:b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추가정보필요시 표출</a:t>
                      </a:r>
                      <a:b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담당자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요청시간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태그 표출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클릭시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highlight>
                            <a:srgbClr val="FFFF00"/>
                          </a:highlight>
                          <a:latin typeface="Arial"/>
                          <a:cs typeface="Arial"/>
                          <a:sym typeface="Arial"/>
                        </a:rPr>
                        <a:t>CC-UI-003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Arial"/>
                          <a:cs typeface="Arial"/>
                          <a:sym typeface="Arial"/>
                        </a:rPr>
                        <a:t>이동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⑥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우선순위 자동표출</a:t>
                      </a:r>
                      <a:b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낮음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43181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⑦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요청사항 모든 리스트 및 필터링된 검색 결과 표출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488229"/>
                  </a:ext>
                </a:extLst>
              </a:tr>
              <a:tr h="660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520419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E86E1B02-221F-4C3A-9B9E-0BD4648F3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5711105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CC-UI-005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 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요청사항 모든 리스트 및 필터링된 검색 결과 표출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27BDBA2-6C09-F0EB-97F3-E7F858468AA8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E346DE-ABCA-3ACE-7D1F-545E40BD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41D80AF-92B7-EF60-D217-BD2EAE5FD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67996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72EB681-B5F6-63E0-3E72-938EE8331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900" y="1711294"/>
            <a:ext cx="1628784" cy="4294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2785AC-AAA1-B878-9309-9BE467AFE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7" y="2117698"/>
            <a:ext cx="7178683" cy="4438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8A583DE-F91D-6C51-CD43-48F31B0248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317" y="2894271"/>
            <a:ext cx="7178683" cy="324398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33B64EC-ECDA-E61C-94ED-6D79A5E6F589}"/>
              </a:ext>
            </a:extLst>
          </p:cNvPr>
          <p:cNvSpPr/>
          <p:nvPr/>
        </p:nvSpPr>
        <p:spPr>
          <a:xfrm>
            <a:off x="254899" y="2193412"/>
            <a:ext cx="3513825" cy="27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7E5CB4-F795-B6D0-7F73-9A53F4496144}"/>
              </a:ext>
            </a:extLst>
          </p:cNvPr>
          <p:cNvSpPr/>
          <p:nvPr/>
        </p:nvSpPr>
        <p:spPr>
          <a:xfrm>
            <a:off x="3826316" y="2193412"/>
            <a:ext cx="1666426" cy="27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A26613-F6F8-D19D-FDBC-2772C873F366}"/>
              </a:ext>
            </a:extLst>
          </p:cNvPr>
          <p:cNvSpPr/>
          <p:nvPr/>
        </p:nvSpPr>
        <p:spPr>
          <a:xfrm>
            <a:off x="5550334" y="2193412"/>
            <a:ext cx="1726766" cy="27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058744-C8E0-499A-4004-CE0EFBDB58AE}"/>
              </a:ext>
            </a:extLst>
          </p:cNvPr>
          <p:cNvSpPr/>
          <p:nvPr/>
        </p:nvSpPr>
        <p:spPr>
          <a:xfrm>
            <a:off x="254898" y="3785146"/>
            <a:ext cx="7065065" cy="710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B1D032-9D96-1A27-1176-BDE9E00E9B8A}"/>
              </a:ext>
            </a:extLst>
          </p:cNvPr>
          <p:cNvSpPr txBox="1"/>
          <p:nvPr/>
        </p:nvSpPr>
        <p:spPr>
          <a:xfrm>
            <a:off x="1464805" y="204786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E4C764-9A2A-FE08-162A-6755EC143DFC}"/>
              </a:ext>
            </a:extLst>
          </p:cNvPr>
          <p:cNvSpPr txBox="1"/>
          <p:nvPr/>
        </p:nvSpPr>
        <p:spPr>
          <a:xfrm>
            <a:off x="4622233" y="205956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7A1D78-39D4-65EF-9055-E8978594B164}"/>
              </a:ext>
            </a:extLst>
          </p:cNvPr>
          <p:cNvSpPr txBox="1"/>
          <p:nvPr/>
        </p:nvSpPr>
        <p:spPr>
          <a:xfrm>
            <a:off x="6358048" y="204786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A00C5D-AAAD-E87E-70AB-C86B68562720}"/>
              </a:ext>
            </a:extLst>
          </p:cNvPr>
          <p:cNvSpPr txBox="1"/>
          <p:nvPr/>
        </p:nvSpPr>
        <p:spPr>
          <a:xfrm>
            <a:off x="1862586" y="378514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⑤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19824C4-D740-F98E-7A33-EDB1092E433D}"/>
              </a:ext>
            </a:extLst>
          </p:cNvPr>
          <p:cNvSpPr/>
          <p:nvPr/>
        </p:nvSpPr>
        <p:spPr>
          <a:xfrm>
            <a:off x="187318" y="2866114"/>
            <a:ext cx="7253302" cy="3387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3AAE8C-DF35-4DBB-3268-BB69E9522E0F}"/>
              </a:ext>
            </a:extLst>
          </p:cNvPr>
          <p:cNvSpPr txBox="1"/>
          <p:nvPr/>
        </p:nvSpPr>
        <p:spPr>
          <a:xfrm>
            <a:off x="6835015" y="393903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⑥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9AB2F2AB-CBA3-D89F-C637-7643B92FF2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7786" y="1386824"/>
            <a:ext cx="3436907" cy="218911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375CA123-3803-EC98-5421-95E0EC814436}"/>
              </a:ext>
            </a:extLst>
          </p:cNvPr>
          <p:cNvGrpSpPr/>
          <p:nvPr/>
        </p:nvGrpSpPr>
        <p:grpSpPr>
          <a:xfrm>
            <a:off x="254898" y="2528610"/>
            <a:ext cx="2669890" cy="275809"/>
            <a:chOff x="254898" y="2528610"/>
            <a:chExt cx="2669890" cy="275809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AD8518F-8757-CA6B-5C44-026FBFC08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4898" y="2529945"/>
              <a:ext cx="2669890" cy="274474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2F771B7A-CA50-8999-0A13-7574969EC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881529" y="2528610"/>
              <a:ext cx="556257" cy="255977"/>
            </a:xfrm>
            <a:prstGeom prst="rect">
              <a:avLst/>
            </a:prstGeom>
          </p:spPr>
        </p:pic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0B8CEA93-1B8D-D77D-63C7-A62B5A45E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940373" y="2579703"/>
              <a:ext cx="317052" cy="170858"/>
            </a:xfrm>
            <a:prstGeom prst="rect">
              <a:avLst/>
            </a:prstGeom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616AFEE-5127-B086-B72B-3C620EDBA82F}"/>
              </a:ext>
            </a:extLst>
          </p:cNvPr>
          <p:cNvSpPr txBox="1"/>
          <p:nvPr/>
        </p:nvSpPr>
        <p:spPr>
          <a:xfrm>
            <a:off x="1935496" y="2563671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/>
              <a:t>완료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8C4F2C-13BD-8352-29AE-03177AB2CFE8}"/>
              </a:ext>
            </a:extLst>
          </p:cNvPr>
          <p:cNvSpPr txBox="1"/>
          <p:nvPr/>
        </p:nvSpPr>
        <p:spPr>
          <a:xfrm>
            <a:off x="2322726" y="247744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083C23-3816-EECC-6F41-F960D1468F6E}"/>
              </a:ext>
            </a:extLst>
          </p:cNvPr>
          <p:cNvSpPr txBox="1"/>
          <p:nvPr/>
        </p:nvSpPr>
        <p:spPr>
          <a:xfrm>
            <a:off x="4007014" y="608345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⑦</a:t>
            </a:r>
          </a:p>
        </p:txBody>
      </p:sp>
    </p:spTree>
    <p:extLst>
      <p:ext uri="{BB962C8B-B14F-4D97-AF65-F5344CB8AC3E}">
        <p14:creationId xmlns:p14="http://schemas.microsoft.com/office/powerpoint/2010/main" val="142983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E9A4038B-5D68-2511-C439-5C1376846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637834DF-B872-965D-516D-EA7A4A148D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710892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020"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 새글 작성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게시글 검색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8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선택시 리스트로 보여줌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8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클릭시 해당 파일 다운로드 및 공지사항은 게시글 읽기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8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⑤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선택시 해당 리스트 보여줌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  <a:tr h="8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43181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20436C20-E0E5-BB00-A090-62F14E5AF1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1245861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CC-UI-006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선택시 해당 리스트 보여줌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0EB9226-AEAD-B20A-E615-A1EE6FDF99BF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525187-5F84-60B7-2984-7A11BFCA6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825E929-F6BC-CFDA-8069-FEF6C8BC9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1ADE59A-6218-D991-38CA-66F1D3102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7786" y="1387360"/>
            <a:ext cx="3378200" cy="23273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AB3BD57-29EE-78ED-192D-F95F74070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310" y="1723392"/>
            <a:ext cx="2295542" cy="5048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1E7EEB2-40E8-73E1-F98A-23B0E1D5BC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3989" y="1842492"/>
            <a:ext cx="942982" cy="342903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2CA1D755-137D-F627-03C3-DEF93152937F}"/>
              </a:ext>
            </a:extLst>
          </p:cNvPr>
          <p:cNvGrpSpPr/>
          <p:nvPr/>
        </p:nvGrpSpPr>
        <p:grpSpPr>
          <a:xfrm>
            <a:off x="272735" y="2773890"/>
            <a:ext cx="2397068" cy="504830"/>
            <a:chOff x="272735" y="2258430"/>
            <a:chExt cx="2397068" cy="50483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0E67D5E-49B9-DF58-B45A-D30100036FFC}"/>
                </a:ext>
              </a:extLst>
            </p:cNvPr>
            <p:cNvGrpSpPr/>
            <p:nvPr/>
          </p:nvGrpSpPr>
          <p:grpSpPr>
            <a:xfrm>
              <a:off x="272735" y="2258430"/>
              <a:ext cx="2397068" cy="504830"/>
              <a:chOff x="272735" y="2258430"/>
              <a:chExt cx="2397068" cy="504830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D7433E47-CB8F-3A4A-2B42-3DD1E82E66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735" y="2387873"/>
                <a:ext cx="2352692" cy="323852"/>
              </a:xfrm>
              <a:prstGeom prst="rect">
                <a:avLst/>
              </a:prstGeom>
            </p:spPr>
          </p:pic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CFCD2446-6496-D304-D327-86C10D9219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10514" y="2398904"/>
                <a:ext cx="156411" cy="291909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04263121-A2DA-14D0-6688-AC5C9C1A23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35961" y="2258430"/>
                <a:ext cx="633842" cy="504830"/>
              </a:xfrm>
              <a:prstGeom prst="rect">
                <a:avLst/>
              </a:prstGeom>
            </p:spPr>
          </p:pic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2185303-D1CC-71BA-6D93-F9573BA1016E}"/>
                </a:ext>
              </a:extLst>
            </p:cNvPr>
            <p:cNvSpPr/>
            <p:nvPr/>
          </p:nvSpPr>
          <p:spPr>
            <a:xfrm>
              <a:off x="272735" y="2379155"/>
              <a:ext cx="1763226" cy="3393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A04C72C0-B4A2-235C-CE5F-2F1F005B87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330" y="2284598"/>
            <a:ext cx="7173641" cy="51074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B6A4AE7-7F5C-B23A-4CA8-4338E5F30B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3330" y="3330466"/>
            <a:ext cx="7173641" cy="16668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7D3C5EC0-C0D9-B381-2B33-D2EE888F3138}"/>
              </a:ext>
            </a:extLst>
          </p:cNvPr>
          <p:cNvSpPr/>
          <p:nvPr/>
        </p:nvSpPr>
        <p:spPr>
          <a:xfrm>
            <a:off x="331991" y="3662569"/>
            <a:ext cx="6921297" cy="271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C1920F-B3C4-E6BF-D05E-E9B3F1924690}"/>
              </a:ext>
            </a:extLst>
          </p:cNvPr>
          <p:cNvSpPr txBox="1"/>
          <p:nvPr/>
        </p:nvSpPr>
        <p:spPr>
          <a:xfrm>
            <a:off x="6243952" y="179474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746C9D-19D2-54C2-3B3C-578732ACEA25}"/>
              </a:ext>
            </a:extLst>
          </p:cNvPr>
          <p:cNvSpPr txBox="1"/>
          <p:nvPr/>
        </p:nvSpPr>
        <p:spPr>
          <a:xfrm>
            <a:off x="2669803" y="225079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5BCB24-0F29-8FFB-B2AD-BDB43DADE8F7}"/>
              </a:ext>
            </a:extLst>
          </p:cNvPr>
          <p:cNvSpPr txBox="1"/>
          <p:nvPr/>
        </p:nvSpPr>
        <p:spPr>
          <a:xfrm>
            <a:off x="1879426" y="278788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1774-3CDC-F52D-645D-C87655895E11}"/>
              </a:ext>
            </a:extLst>
          </p:cNvPr>
          <p:cNvSpPr txBox="1"/>
          <p:nvPr/>
        </p:nvSpPr>
        <p:spPr>
          <a:xfrm>
            <a:off x="2139336" y="351564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5B1788-9760-B38B-AD46-881D40B734F1}"/>
              </a:ext>
            </a:extLst>
          </p:cNvPr>
          <p:cNvSpPr txBox="1"/>
          <p:nvPr/>
        </p:nvSpPr>
        <p:spPr>
          <a:xfrm>
            <a:off x="2203657" y="4817669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3517754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9641CA0-AEE7-E405-29A3-FD7ACD985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E3C60C95-F66A-3403-ABE2-52AB90CBD9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9571342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024"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업로드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100MB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이하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파일검색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리스트</a:t>
                      </a:r>
                      <a:endParaRPr lang="en-US" altLang="ko-KR"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가로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줄 세로 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줄 표출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저장용량 표시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E1CCB67C-9794-ACF4-544D-D5EE8EEBCC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9722907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CC-UI-007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파일함 화면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업로드 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 검색 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저장용량 표시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EC34BF23-2552-67AB-9BB2-DF1ED862EB20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6ECAB3-F80B-B207-3C99-5BB07028E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6A72342-275C-582E-57C3-6F9FAC510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5128D1B-E4E7-93B6-B0A8-509AC6AA1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4444" y="1401193"/>
            <a:ext cx="3378200" cy="19489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7B555A4-8EE6-B671-DD41-B754E0ABAF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7" y="1725581"/>
            <a:ext cx="1962164" cy="52387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F70A45F-5DE7-F038-C5F8-99FF6F52F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9032" y="1833633"/>
            <a:ext cx="1019182" cy="35242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890CE73-18C9-FA13-91C3-5C4830F7D5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317" y="2362079"/>
            <a:ext cx="7280897" cy="48014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B9DB2CC-91E1-FF7A-2080-FEACD0E54A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317" y="2937238"/>
            <a:ext cx="7280897" cy="195093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5AA3CB1-8B88-13D8-1328-A5FE5F3EDA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317" y="5006871"/>
            <a:ext cx="7280897" cy="86583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F482AFD-4DC9-A317-268D-7C19E680A9B9}"/>
              </a:ext>
            </a:extLst>
          </p:cNvPr>
          <p:cNvSpPr txBox="1"/>
          <p:nvPr/>
        </p:nvSpPr>
        <p:spPr>
          <a:xfrm>
            <a:off x="6210646" y="172558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3F00B1-E129-E65F-335A-593BAE624C2E}"/>
              </a:ext>
            </a:extLst>
          </p:cNvPr>
          <p:cNvSpPr txBox="1"/>
          <p:nvPr/>
        </p:nvSpPr>
        <p:spPr>
          <a:xfrm>
            <a:off x="348935" y="218606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FC967D-2E4F-2A12-5EF5-123F19EF9B9C}"/>
              </a:ext>
            </a:extLst>
          </p:cNvPr>
          <p:cNvSpPr txBox="1"/>
          <p:nvPr/>
        </p:nvSpPr>
        <p:spPr>
          <a:xfrm>
            <a:off x="199710" y="288675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41794-C20B-8266-DA30-3A407831415B}"/>
              </a:ext>
            </a:extLst>
          </p:cNvPr>
          <p:cNvSpPr txBox="1"/>
          <p:nvPr/>
        </p:nvSpPr>
        <p:spPr>
          <a:xfrm>
            <a:off x="168916" y="495765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706013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42A5B08-0013-2D2E-F040-CEB1178F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5527813F-F008-559F-7DB8-E1A1BEB280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1622437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030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 정보 선택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직책 수정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변경사항저장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현재페이지로 리프레쉬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DCC6D3D9-93B3-9B1D-210F-34323320A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5240595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CC-UI-008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1/5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정보 변경 페이지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9E8AED20-334D-4FA6-CB2F-1E333858628E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E4D61A-F323-5EAD-37EB-3AD8220F9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8CD5C6C-1BF9-214D-0D24-0374FB733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7A4FF30-0F28-B11D-2011-D05809930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17" y="1690752"/>
            <a:ext cx="2305067" cy="5334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B7C732-85CB-7DEF-9B03-E2B5E6372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403" y="2314493"/>
            <a:ext cx="3533801" cy="400053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9BDAA766-4EDC-5935-FA61-6AAAD9069F24}"/>
              </a:ext>
            </a:extLst>
          </p:cNvPr>
          <p:cNvGrpSpPr/>
          <p:nvPr/>
        </p:nvGrpSpPr>
        <p:grpSpPr>
          <a:xfrm>
            <a:off x="199403" y="2804883"/>
            <a:ext cx="7268811" cy="3072475"/>
            <a:chOff x="199403" y="2804883"/>
            <a:chExt cx="7268811" cy="3072475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49C4391-EC3C-4B18-4BC0-558AE9BD17A5}"/>
                </a:ext>
              </a:extLst>
            </p:cNvPr>
            <p:cNvGrpSpPr/>
            <p:nvPr/>
          </p:nvGrpSpPr>
          <p:grpSpPr>
            <a:xfrm>
              <a:off x="199403" y="2804883"/>
              <a:ext cx="7268811" cy="2373329"/>
              <a:chOff x="199403" y="2804883"/>
              <a:chExt cx="7268811" cy="2373329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1F4AFBAB-E897-AF5D-17AE-CF71D2A5AF91}"/>
                  </a:ext>
                </a:extLst>
              </p:cNvPr>
              <p:cNvGrpSpPr/>
              <p:nvPr/>
            </p:nvGrpSpPr>
            <p:grpSpPr>
              <a:xfrm>
                <a:off x="199403" y="2804883"/>
                <a:ext cx="7268811" cy="2373329"/>
                <a:chOff x="199403" y="2804883"/>
                <a:chExt cx="7268811" cy="2373329"/>
              </a:xfrm>
            </p:grpSpPr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id="{205DBA36-5250-E84E-1104-26A0B2D3C7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9403" y="2804883"/>
                  <a:ext cx="7268811" cy="2373329"/>
                </a:xfrm>
                <a:prstGeom prst="rect">
                  <a:avLst/>
                </a:prstGeom>
              </p:spPr>
            </p:pic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1203DAC5-05F5-58BD-6558-8CF7A24802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6894" y="4472734"/>
                  <a:ext cx="361953" cy="114301"/>
                </a:xfrm>
                <a:prstGeom prst="rect">
                  <a:avLst/>
                </a:prstGeom>
              </p:spPr>
            </p:pic>
          </p:grp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6A26D5A4-46CC-81AD-5CD8-D97FCA5011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7662" y="4257625"/>
                <a:ext cx="304802" cy="145740"/>
              </a:xfrm>
              <a:prstGeom prst="rect">
                <a:avLst/>
              </a:prstGeom>
            </p:spPr>
          </p:pic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E525E858-ADC9-5CE6-7B0E-6D4AEF3D6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4756" y="4667674"/>
              <a:ext cx="7258103" cy="1209684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7363501-7336-3E03-249B-3A4C4B131AAE}"/>
              </a:ext>
            </a:extLst>
          </p:cNvPr>
          <p:cNvSpPr txBox="1"/>
          <p:nvPr/>
        </p:nvSpPr>
        <p:spPr>
          <a:xfrm>
            <a:off x="300037" y="4246991"/>
            <a:ext cx="11239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비밀번호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F0FE2-BD2A-4143-FB68-19BFBEDFBC11}"/>
              </a:ext>
            </a:extLst>
          </p:cNvPr>
          <p:cNvSpPr txBox="1"/>
          <p:nvPr/>
        </p:nvSpPr>
        <p:spPr>
          <a:xfrm>
            <a:off x="451183" y="4437355"/>
            <a:ext cx="11239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**************************</a:t>
            </a:r>
            <a:endParaRPr lang="ko-KR" altLang="en-US" sz="7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9F24C1C-9020-85AF-907E-DD2EE7675FBD}"/>
              </a:ext>
            </a:extLst>
          </p:cNvPr>
          <p:cNvSpPr/>
          <p:nvPr/>
        </p:nvSpPr>
        <p:spPr>
          <a:xfrm>
            <a:off x="199403" y="2836640"/>
            <a:ext cx="7184377" cy="2729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84C7926-93F3-2296-3ACA-8A2D1438A8B5}"/>
              </a:ext>
            </a:extLst>
          </p:cNvPr>
          <p:cNvSpPr/>
          <p:nvPr/>
        </p:nvSpPr>
        <p:spPr>
          <a:xfrm>
            <a:off x="347662" y="5163653"/>
            <a:ext cx="773907" cy="277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E5CF4B-849C-7DA2-99B3-C37A38227D35}"/>
              </a:ext>
            </a:extLst>
          </p:cNvPr>
          <p:cNvSpPr txBox="1"/>
          <p:nvPr/>
        </p:nvSpPr>
        <p:spPr>
          <a:xfrm>
            <a:off x="823119" y="212900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53F458-1A89-FEFB-826D-53040F5E173F}"/>
              </a:ext>
            </a:extLst>
          </p:cNvPr>
          <p:cNvSpPr txBox="1"/>
          <p:nvPr/>
        </p:nvSpPr>
        <p:spPr>
          <a:xfrm>
            <a:off x="1667853" y="278128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B21A2E-5289-D5E5-F85E-A273B067D7A7}"/>
              </a:ext>
            </a:extLst>
          </p:cNvPr>
          <p:cNvSpPr txBox="1"/>
          <p:nvPr/>
        </p:nvSpPr>
        <p:spPr>
          <a:xfrm>
            <a:off x="1020602" y="4979500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F0034811-E77C-381F-545D-4771B4255E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7787" y="1381607"/>
            <a:ext cx="3378200" cy="26856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008121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7E7F275-1BAD-58BE-E423-F02A8F74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4F4D5FA7-1C27-F997-C306-15DC2BD06A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4741485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0030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회사설정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회사명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주소 변경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변경사항저장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현재페이지로 리프레쉬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1320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C41642A1-1EFC-E22D-3988-EF7F6864FD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3879426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CC-UI-009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2/5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회사 정보 변경 페이지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504CB7CD-5E7B-1518-2ED9-CD03B5C9B3F8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156CC5-2ABC-E404-CD48-308A07334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B8D5DC2-1352-2F8C-4DA9-C4814B22F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AAFEDE8-8D25-D815-BA49-A30DC15D8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317" y="1690752"/>
            <a:ext cx="2305067" cy="53340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BB9EA335-667B-167B-B637-280D37DFA9AD}"/>
              </a:ext>
            </a:extLst>
          </p:cNvPr>
          <p:cNvSpPr/>
          <p:nvPr/>
        </p:nvSpPr>
        <p:spPr>
          <a:xfrm>
            <a:off x="199403" y="2836641"/>
            <a:ext cx="7184377" cy="1925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4008CCB9-5ED6-014B-086A-14AB9572B2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7787" y="1381607"/>
            <a:ext cx="3378200" cy="26856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C10F8F94-27BD-2CCA-A77C-E43D894C98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18" y="2854796"/>
            <a:ext cx="7086632" cy="1848687"/>
          </a:xfrm>
          <a:prstGeom prst="rect">
            <a:avLst/>
          </a:prstGeom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C8832087-BBDC-864E-A104-A2D8C364D68F}"/>
              </a:ext>
            </a:extLst>
          </p:cNvPr>
          <p:cNvSpPr/>
          <p:nvPr/>
        </p:nvSpPr>
        <p:spPr>
          <a:xfrm>
            <a:off x="385762" y="4278117"/>
            <a:ext cx="773907" cy="277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EDA666D1-2FD4-37BF-7752-8D739DDDED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18" y="2406145"/>
            <a:ext cx="3438550" cy="37147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70E88C3-4B59-3013-7FEB-F62D44BC5680}"/>
              </a:ext>
            </a:extLst>
          </p:cNvPr>
          <p:cNvSpPr txBox="1"/>
          <p:nvPr/>
        </p:nvSpPr>
        <p:spPr>
          <a:xfrm>
            <a:off x="576700" y="224169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61ED5F-680C-D035-79B0-75BB8F039065}"/>
              </a:ext>
            </a:extLst>
          </p:cNvPr>
          <p:cNvSpPr txBox="1"/>
          <p:nvPr/>
        </p:nvSpPr>
        <p:spPr>
          <a:xfrm>
            <a:off x="1411733" y="282306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FEFE58-9105-8721-7B55-CFFEF3A7BAD0}"/>
              </a:ext>
            </a:extLst>
          </p:cNvPr>
          <p:cNvSpPr txBox="1"/>
          <p:nvPr/>
        </p:nvSpPr>
        <p:spPr>
          <a:xfrm>
            <a:off x="1207884" y="4252688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4249252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A7EE1AC-8909-870E-DCFA-0E61FB70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6A3D6026-27EE-C14A-0B61-BD1FAB9402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949369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024"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팀관리 선택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 목록 팀 별로 리스트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③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관리하여 팀 추가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삭제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④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변경사항저장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현재페이지로 리프레쉬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40795"/>
                  </a:ext>
                </a:extLst>
              </a:tr>
              <a:tr h="105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10919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5F0B9871-7400-A921-1560-FA617BA26A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6977388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CC-UI-010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3/5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 추가 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 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 페이지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9023505A-B16D-EF9B-BD26-8CAB77C88ADB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3284EF-56D2-97C2-F93E-06A56664D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67FB16-93E4-9AA6-74DB-30C409AD3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19" y="2872416"/>
            <a:ext cx="7136162" cy="252046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D304201-ECAF-BF47-B052-56DE14E79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62885A4-1054-FBD1-EB21-D2EE0472A9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7" y="1690752"/>
            <a:ext cx="2305067" cy="53340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3E8E1DC9-9A0D-E9FA-5689-A1AB251AC9FF}"/>
              </a:ext>
            </a:extLst>
          </p:cNvPr>
          <p:cNvSpPr/>
          <p:nvPr/>
        </p:nvSpPr>
        <p:spPr>
          <a:xfrm>
            <a:off x="199403" y="2836640"/>
            <a:ext cx="7184377" cy="2520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90ED7D17-4276-C74D-32DD-C6D2256B8C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7787" y="1381607"/>
            <a:ext cx="3378200" cy="26856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3EFDB821-1401-4758-748C-FFDEF4714C26}"/>
              </a:ext>
            </a:extLst>
          </p:cNvPr>
          <p:cNvSpPr/>
          <p:nvPr/>
        </p:nvSpPr>
        <p:spPr>
          <a:xfrm>
            <a:off x="338971" y="4975268"/>
            <a:ext cx="6877804" cy="277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2674D9-40DA-DEF5-C5F4-6943783674FA}"/>
              </a:ext>
            </a:extLst>
          </p:cNvPr>
          <p:cNvSpPr txBox="1"/>
          <p:nvPr/>
        </p:nvSpPr>
        <p:spPr>
          <a:xfrm>
            <a:off x="1411733" y="2823067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475A66-5C7C-5904-1F4A-1A563C22D070}"/>
              </a:ext>
            </a:extLst>
          </p:cNvPr>
          <p:cNvSpPr txBox="1"/>
          <p:nvPr/>
        </p:nvSpPr>
        <p:spPr>
          <a:xfrm>
            <a:off x="6475209" y="3487571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4D931-4F7D-4962-7842-BBAFFC34DB32}"/>
              </a:ext>
            </a:extLst>
          </p:cNvPr>
          <p:cNvSpPr txBox="1"/>
          <p:nvPr/>
        </p:nvSpPr>
        <p:spPr>
          <a:xfrm>
            <a:off x="3223124" y="472658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④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2D8503B-EB4E-FFDA-568C-865FCDDB7D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19" y="2412990"/>
            <a:ext cx="3467125" cy="33337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ADB614-188B-9B16-82D7-881B0F729816}"/>
              </a:ext>
            </a:extLst>
          </p:cNvPr>
          <p:cNvSpPr txBox="1"/>
          <p:nvPr/>
        </p:nvSpPr>
        <p:spPr>
          <a:xfrm>
            <a:off x="576700" y="224169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756577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5D78CE56-34AE-C7B7-F8ED-D7766671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C8C17CB4-B8A5-B0D9-2A63-5530E71B8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520063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04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권한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가이드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/FAQ 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팀원의 권한 설정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76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5ED45D0B-4113-08B9-BC2F-00EB2FEAF7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612580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CC-UI-011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4/5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팀원의 권한 정보 변경 페이지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B71EB435-D12D-1541-C419-BD31F7A7BE8E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AE2CA6-0E71-8BA9-A2CC-3F25C4C5E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9FBD3FE-BC8C-3966-845D-9DED6D7FB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8D0F478-11FB-3114-E71E-8CE159605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584" y="2876074"/>
            <a:ext cx="7056616" cy="257574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D2CD5AE-4352-E778-B617-F496632918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7" y="1690752"/>
            <a:ext cx="2305067" cy="53340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ECFF5E-0ADD-8E13-041D-BF568F244CCA}"/>
              </a:ext>
            </a:extLst>
          </p:cNvPr>
          <p:cNvSpPr/>
          <p:nvPr/>
        </p:nvSpPr>
        <p:spPr>
          <a:xfrm>
            <a:off x="199403" y="2836641"/>
            <a:ext cx="7184377" cy="2698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21E683E-1470-AFE1-2AF9-6010DC1F2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7787" y="1381607"/>
            <a:ext cx="3378200" cy="26856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6A3BFEEE-3EEE-D747-89F6-EBFF9D2001DE}"/>
              </a:ext>
            </a:extLst>
          </p:cNvPr>
          <p:cNvSpPr/>
          <p:nvPr/>
        </p:nvSpPr>
        <p:spPr>
          <a:xfrm>
            <a:off x="6861786" y="3621881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0F0F936-2564-33B3-5D89-5E1BE36E915A}"/>
              </a:ext>
            </a:extLst>
          </p:cNvPr>
          <p:cNvSpPr txBox="1"/>
          <p:nvPr/>
        </p:nvSpPr>
        <p:spPr>
          <a:xfrm>
            <a:off x="6805422" y="3384255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DD8B8A-806A-A6D1-EF32-700C682614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403" y="2457684"/>
            <a:ext cx="3438550" cy="31432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40A4FA-2B53-93BD-78DB-2D15F7209B04}"/>
              </a:ext>
            </a:extLst>
          </p:cNvPr>
          <p:cNvSpPr txBox="1"/>
          <p:nvPr/>
        </p:nvSpPr>
        <p:spPr>
          <a:xfrm>
            <a:off x="576700" y="224169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2DBCEC-5AAE-F604-8BFA-F7AD3E6A486C}"/>
              </a:ext>
            </a:extLst>
          </p:cNvPr>
          <p:cNvSpPr/>
          <p:nvPr/>
        </p:nvSpPr>
        <p:spPr>
          <a:xfrm>
            <a:off x="6861786" y="3802108"/>
            <a:ext cx="279244" cy="135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6A60FF4-A243-2243-5D98-E3823394A249}"/>
              </a:ext>
            </a:extLst>
          </p:cNvPr>
          <p:cNvSpPr/>
          <p:nvPr/>
        </p:nvSpPr>
        <p:spPr>
          <a:xfrm>
            <a:off x="6861786" y="4337480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D00705-FFCD-6900-EBE8-938C24AB120A}"/>
              </a:ext>
            </a:extLst>
          </p:cNvPr>
          <p:cNvSpPr/>
          <p:nvPr/>
        </p:nvSpPr>
        <p:spPr>
          <a:xfrm>
            <a:off x="6861786" y="4517707"/>
            <a:ext cx="279244" cy="135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453CE6-30E3-CAEC-D2E8-90BBC636D91C}"/>
              </a:ext>
            </a:extLst>
          </p:cNvPr>
          <p:cNvSpPr/>
          <p:nvPr/>
        </p:nvSpPr>
        <p:spPr>
          <a:xfrm>
            <a:off x="6861786" y="5061290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65D10D-5446-8010-3A64-FC6A7E8C7441}"/>
              </a:ext>
            </a:extLst>
          </p:cNvPr>
          <p:cNvSpPr/>
          <p:nvPr/>
        </p:nvSpPr>
        <p:spPr>
          <a:xfrm>
            <a:off x="6861786" y="5241517"/>
            <a:ext cx="279244" cy="135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81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0B77B62-51F4-1FAD-9951-2E16710B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7">
            <a:extLst>
              <a:ext uri="{FF2B5EF4-FFF2-40B4-BE49-F238E27FC236}">
                <a16:creationId xmlns:a16="http://schemas.microsoft.com/office/drawing/2014/main" id="{83F7311E-9BD6-0AEC-A230-6F606E3C73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3033100"/>
              </p:ext>
            </p:extLst>
          </p:nvPr>
        </p:nvGraphicFramePr>
        <p:xfrm>
          <a:off x="26980" y="997004"/>
          <a:ext cx="9879020" cy="5525194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7673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7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화면레이아웃</a:t>
                      </a:r>
                      <a:endParaRPr sz="1400"/>
                    </a:p>
                  </a:txBody>
                  <a:tcPr marL="83075" marR="83075" marT="46337" marB="4633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5267" marB="45267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004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rgbClr val="A6A6A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3075" marR="83075" marT="46337" marB="46337" anchor="ctr" anchorCtr="1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①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알림 설정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r>
                        <a:rPr lang="ko-KR" altLang="en-US" sz="1100">
                          <a:solidFill>
                            <a:srgbClr val="0C07E9"/>
                          </a:solidFill>
                        </a:rPr>
                        <a:t>②</a:t>
                      </a: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티켓할당알림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티켓상태변경알림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댓글알림</a:t>
                      </a:r>
                      <a:r>
                        <a:rPr lang="en-US" altLang="ko-KR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>
                          <a:solidFill>
                            <a:srgbClr val="0C07E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게시판 알림 설정</a:t>
                      </a: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070026"/>
                  </a:ext>
                </a:extLst>
              </a:tr>
              <a:tr h="176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Gulim"/>
                        <a:buNone/>
                      </a:pPr>
                      <a:endParaRPr sz="1100">
                        <a:solidFill>
                          <a:srgbClr val="0C07E9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0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0C07E9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650525"/>
                  </a:ext>
                </a:extLst>
              </a:tr>
            </a:tbl>
          </a:graphicData>
        </a:graphic>
      </p:graphicFrame>
      <p:graphicFrame>
        <p:nvGraphicFramePr>
          <p:cNvPr id="81" name="Google Shape;81;p7">
            <a:extLst>
              <a:ext uri="{FF2B5EF4-FFF2-40B4-BE49-F238E27FC236}">
                <a16:creationId xmlns:a16="http://schemas.microsoft.com/office/drawing/2014/main" id="{C178B811-EEBA-CA82-F59A-18C030FEA8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1528785"/>
              </p:ext>
            </p:extLst>
          </p:nvPr>
        </p:nvGraphicFramePr>
        <p:xfrm>
          <a:off x="27862" y="405171"/>
          <a:ext cx="9863125" cy="561625"/>
        </p:xfrm>
        <a:graphic>
          <a:graphicData uri="http://schemas.openxmlformats.org/drawingml/2006/table">
            <a:tbl>
              <a:tblPr>
                <a:noFill/>
                <a:tableStyleId>{715D2FAC-C08E-420A-8C3A-5AC99DA5B0F8}</a:tableStyleId>
              </a:tblPr>
              <a:tblGrid>
                <a:gridCol w="82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화면ID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/>
                        <a:t>CC-UI-012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화면명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 화면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및 관리자페이지</a:t>
                      </a: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5/5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요구사항ID</a:t>
                      </a: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화면설명</a:t>
                      </a:r>
                      <a:endParaRPr/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알림 정보 변경 페이지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화면유형</a:t>
                      </a:r>
                      <a:endParaRPr/>
                    </a:p>
                  </a:txBody>
                  <a:tcPr marL="91450" marR="91450" marT="45625" marB="456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1"/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구성(디자인)</a:t>
                      </a:r>
                    </a:p>
                  </a:txBody>
                  <a:tcPr marL="91450" marR="91450" marT="45625" marB="456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7BFC416A-CF2F-D044-FBD8-E8686F679AC8}"/>
              </a:ext>
            </a:extLst>
          </p:cNvPr>
          <p:cNvSpPr/>
          <p:nvPr/>
        </p:nvSpPr>
        <p:spPr>
          <a:xfrm>
            <a:off x="101600" y="1322447"/>
            <a:ext cx="7506314" cy="51303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F304C9-6049-30CC-091E-F2C0B864A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7" y="1360547"/>
            <a:ext cx="1628783" cy="27146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51391CE-4F98-F873-A0E6-A40EC1A57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786" y="1375445"/>
            <a:ext cx="606428" cy="2565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C953A4C-BEF3-098F-9CEF-B9B814FC5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545" y="2893319"/>
            <a:ext cx="7029141" cy="21110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081477B-C853-50D5-B2DA-782BAD3E05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7" y="1690752"/>
            <a:ext cx="2305067" cy="533404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0F4267E9-4580-119D-B405-642BE3AB243F}"/>
              </a:ext>
            </a:extLst>
          </p:cNvPr>
          <p:cNvSpPr/>
          <p:nvPr/>
        </p:nvSpPr>
        <p:spPr>
          <a:xfrm>
            <a:off x="199403" y="2836640"/>
            <a:ext cx="7184377" cy="2330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E5204AFB-1CE3-2656-53F4-78DCBF8334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7787" y="1381607"/>
            <a:ext cx="3378200" cy="26856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6286CDA8-F907-CE03-CDA4-29634B1CE370}"/>
              </a:ext>
            </a:extLst>
          </p:cNvPr>
          <p:cNvSpPr txBox="1"/>
          <p:nvPr/>
        </p:nvSpPr>
        <p:spPr>
          <a:xfrm>
            <a:off x="6819855" y="3176576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②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444324-C9DF-0513-4A67-1E8FE76D7C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403" y="2401270"/>
            <a:ext cx="3381400" cy="35242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09FB16-362D-8D34-760D-EA2C6C4DC537}"/>
              </a:ext>
            </a:extLst>
          </p:cNvPr>
          <p:cNvSpPr txBox="1"/>
          <p:nvPr/>
        </p:nvSpPr>
        <p:spPr>
          <a:xfrm>
            <a:off x="576700" y="2241694"/>
            <a:ext cx="298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940D8F-3F94-688D-22DC-F477AD5FB67E}"/>
              </a:ext>
            </a:extLst>
          </p:cNvPr>
          <p:cNvSpPr/>
          <p:nvPr/>
        </p:nvSpPr>
        <p:spPr>
          <a:xfrm>
            <a:off x="6879406" y="3504817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0C3932-2F06-520C-F0AA-EE314B1C8ED6}"/>
              </a:ext>
            </a:extLst>
          </p:cNvPr>
          <p:cNvSpPr/>
          <p:nvPr/>
        </p:nvSpPr>
        <p:spPr>
          <a:xfrm>
            <a:off x="6879406" y="3891082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80A3C7-CE28-FE4C-84A6-11DED8E03040}"/>
              </a:ext>
            </a:extLst>
          </p:cNvPr>
          <p:cNvSpPr/>
          <p:nvPr/>
        </p:nvSpPr>
        <p:spPr>
          <a:xfrm>
            <a:off x="6879406" y="4277347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B4BE36-F596-8207-8244-642A9AE4E4F6}"/>
              </a:ext>
            </a:extLst>
          </p:cNvPr>
          <p:cNvSpPr/>
          <p:nvPr/>
        </p:nvSpPr>
        <p:spPr>
          <a:xfrm>
            <a:off x="6879406" y="4663611"/>
            <a:ext cx="279244" cy="1500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001721"/>
      </p:ext>
    </p:extLst>
  </p:cSld>
  <p:clrMapOvr>
    <a:masterClrMapping/>
  </p:clrMapOvr>
</p:sld>
</file>

<file path=ppt/theme/theme1.xml><?xml version="1.0" encoding="utf-8"?>
<a:theme xmlns:a="http://schemas.openxmlformats.org/drawingml/2006/main" name="2002년1Q연구개발센터">
  <a:themeElements>
    <a:clrScheme name="2002년1Q연구개발센터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2555</TotalTime>
  <Words>1143</Words>
  <Application>Microsoft Office PowerPoint</Application>
  <PresentationFormat>A4 용지(210x297mm)</PresentationFormat>
  <Paragraphs>442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HY견고딕</vt:lpstr>
      <vt:lpstr>Noto Sans Symbols</vt:lpstr>
      <vt:lpstr>Gulim</vt:lpstr>
      <vt:lpstr>Malgun Gothic</vt:lpstr>
      <vt:lpstr>Arial</vt:lpstr>
      <vt:lpstr>Times New Roman</vt:lpstr>
      <vt:lpstr>2002년1Q연구개발센터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박건영</dc:creator>
  <cp:lastModifiedBy>건영 박</cp:lastModifiedBy>
  <cp:revision>34</cp:revision>
  <dcterms:created xsi:type="dcterms:W3CDTF">2015-05-12T02:10:23Z</dcterms:created>
  <dcterms:modified xsi:type="dcterms:W3CDTF">2025-12-17T20:03:08Z</dcterms:modified>
</cp:coreProperties>
</file>